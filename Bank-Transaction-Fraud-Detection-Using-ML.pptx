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4630400" cy="8229600"/>
  <p:notesSz cx="8229600" cy="14630400"/>
  <p:embeddedFontLst>
    <p:embeddedFont>
      <p:font typeface="Barlow" panose="00000500000000000000" pitchFamily="2"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457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txBody>
          <a:bodyPr/>
          <a:lstStyle/>
          <a:p>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A081B">
              <a:alpha val="7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981319"/>
            <a:ext cx="7415927" cy="2057400"/>
          </a:xfrm>
          <a:prstGeom prst="rect">
            <a:avLst/>
          </a:prstGeom>
          <a:noFill/>
          <a:ln/>
        </p:spPr>
        <p:txBody>
          <a:bodyPr wrap="squar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Bank Transaction Fraud Detection Using Machine Learning</a:t>
            </a:r>
            <a:endParaRPr lang="en-US" sz="4300" dirty="0"/>
          </a:p>
        </p:txBody>
      </p:sp>
      <p:sp>
        <p:nvSpPr>
          <p:cNvPr id="4" name="Text 1"/>
          <p:cNvSpPr/>
          <p:nvPr/>
        </p:nvSpPr>
        <p:spPr>
          <a:xfrm>
            <a:off x="864037" y="440900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5" name="Text 2"/>
          <p:cNvSpPr/>
          <p:nvPr/>
        </p:nvSpPr>
        <p:spPr>
          <a:xfrm>
            <a:off x="864037" y="489037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6" name="Text 3"/>
          <p:cNvSpPr/>
          <p:nvPr/>
        </p:nvSpPr>
        <p:spPr>
          <a:xfrm>
            <a:off x="864037" y="537174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
        <p:nvSpPr>
          <p:cNvPr id="7" name="Text 4"/>
          <p:cNvSpPr/>
          <p:nvPr/>
        </p:nvSpPr>
        <p:spPr>
          <a:xfrm>
            <a:off x="864037" y="5853113"/>
            <a:ext cx="7415927" cy="395049"/>
          </a:xfrm>
          <a:prstGeom prst="rect">
            <a:avLst/>
          </a:prstGeom>
          <a:noFill/>
          <a:ln/>
        </p:spPr>
        <p:txBody>
          <a:bodyPr wrap="none" lIns="0" tIns="0" rIns="0" bIns="0" rtlCol="0" anchor="t"/>
          <a:lstStyle/>
          <a:p>
            <a:pPr marL="342900" indent="-342900" algn="l">
              <a:lnSpc>
                <a:spcPts val="3100"/>
              </a:lnSpc>
              <a:buSzPct val="100000"/>
              <a:buChar char="•"/>
            </a:pP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957"/>
          </a:xfrm>
          <a:prstGeom prst="rect">
            <a:avLst/>
          </a:prstGeom>
        </p:spPr>
      </p:pic>
      <p:sp>
        <p:nvSpPr>
          <p:cNvPr id="3" name="Text 0"/>
          <p:cNvSpPr/>
          <p:nvPr/>
        </p:nvSpPr>
        <p:spPr>
          <a:xfrm>
            <a:off x="6148626" y="520303"/>
            <a:ext cx="4204930" cy="525661"/>
          </a:xfrm>
          <a:prstGeom prst="rect">
            <a:avLst/>
          </a:prstGeom>
          <a:noFill/>
          <a:ln/>
        </p:spPr>
        <p:txBody>
          <a:bodyPr wrap="none" lIns="0" tIns="0" rIns="0" bIns="0" rtlCol="0" anchor="t"/>
          <a:lstStyle/>
          <a:p>
            <a:pPr marL="0" indent="0" algn="l">
              <a:lnSpc>
                <a:spcPts val="4100"/>
              </a:lnSpc>
              <a:buNone/>
            </a:pPr>
            <a:r>
              <a:rPr lang="en-US" sz="3300" b="1" dirty="0">
                <a:solidFill>
                  <a:srgbClr val="F0FCFF"/>
                </a:solidFill>
                <a:latin typeface="Spline Sans Bold" pitchFamily="34" charset="0"/>
                <a:ea typeface="Spline Sans Bold" pitchFamily="34" charset="-122"/>
                <a:cs typeface="Spline Sans Bold" pitchFamily="34" charset="-120"/>
              </a:rPr>
              <a:t>Executive Summary</a:t>
            </a:r>
            <a:endParaRPr lang="en-US" sz="3300" dirty="0"/>
          </a:p>
        </p:txBody>
      </p:sp>
      <p:sp>
        <p:nvSpPr>
          <p:cNvPr id="4" name="Text 1"/>
          <p:cNvSpPr/>
          <p:nvPr/>
        </p:nvSpPr>
        <p:spPr>
          <a:xfrm>
            <a:off x="6148626" y="1424226"/>
            <a:ext cx="3767852" cy="624364"/>
          </a:xfrm>
          <a:prstGeom prst="rect">
            <a:avLst/>
          </a:prstGeom>
          <a:noFill/>
          <a:ln/>
        </p:spPr>
        <p:txBody>
          <a:bodyPr wrap="none" lIns="0" tIns="0" rIns="0" bIns="0" rtlCol="0" anchor="t"/>
          <a:lstStyle/>
          <a:p>
            <a:pPr marL="0" indent="0" algn="ctr">
              <a:lnSpc>
                <a:spcPts val="4900"/>
              </a:lnSpc>
              <a:buNone/>
            </a:pPr>
            <a:r>
              <a:rPr lang="en-US" sz="4900" b="1" dirty="0">
                <a:solidFill>
                  <a:srgbClr val="16FFBB"/>
                </a:solidFill>
                <a:latin typeface="Spline Sans Bold" pitchFamily="34" charset="0"/>
                <a:ea typeface="Spline Sans Bold" pitchFamily="34" charset="-122"/>
                <a:cs typeface="Spline Sans Bold" pitchFamily="34" charset="-120"/>
              </a:rPr>
              <a:t>$30B</a:t>
            </a:r>
            <a:endParaRPr lang="en-US" sz="4900" dirty="0"/>
          </a:p>
        </p:txBody>
      </p:sp>
      <p:sp>
        <p:nvSpPr>
          <p:cNvPr id="5" name="Text 2"/>
          <p:cNvSpPr/>
          <p:nvPr/>
        </p:nvSpPr>
        <p:spPr>
          <a:xfrm>
            <a:off x="6981349"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Annual Loss</a:t>
            </a:r>
            <a:endParaRPr lang="en-US" sz="1650" dirty="0"/>
          </a:p>
        </p:txBody>
      </p:sp>
      <p:sp>
        <p:nvSpPr>
          <p:cNvPr id="6" name="Text 3"/>
          <p:cNvSpPr/>
          <p:nvPr/>
        </p:nvSpPr>
        <p:spPr>
          <a:xfrm>
            <a:off x="6148626" y="2661166"/>
            <a:ext cx="3767852"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Estimated global cost of financial fraud</a:t>
            </a:r>
            <a:endParaRPr lang="en-US" sz="1450" dirty="0"/>
          </a:p>
        </p:txBody>
      </p:sp>
      <p:sp>
        <p:nvSpPr>
          <p:cNvPr id="7" name="Text 4"/>
          <p:cNvSpPr/>
          <p:nvPr/>
        </p:nvSpPr>
        <p:spPr>
          <a:xfrm>
            <a:off x="10200203" y="1424226"/>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29DDDA"/>
                </a:solidFill>
                <a:latin typeface="Spline Sans Bold" pitchFamily="34" charset="0"/>
                <a:ea typeface="Spline Sans Bold" pitchFamily="34" charset="-122"/>
                <a:cs typeface="Spline Sans Bold" pitchFamily="34" charset="-120"/>
              </a:rPr>
              <a:t>2,512</a:t>
            </a:r>
            <a:endParaRPr lang="en-US" sz="4900" dirty="0"/>
          </a:p>
        </p:txBody>
      </p:sp>
      <p:sp>
        <p:nvSpPr>
          <p:cNvPr id="8" name="Text 5"/>
          <p:cNvSpPr/>
          <p:nvPr/>
        </p:nvSpPr>
        <p:spPr>
          <a:xfrm>
            <a:off x="11032927" y="2284928"/>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Transactions</a:t>
            </a:r>
            <a:endParaRPr lang="en-US" sz="1650" dirty="0"/>
          </a:p>
        </p:txBody>
      </p:sp>
      <p:sp>
        <p:nvSpPr>
          <p:cNvPr id="9" name="Text 6"/>
          <p:cNvSpPr/>
          <p:nvPr/>
        </p:nvSpPr>
        <p:spPr>
          <a:xfrm>
            <a:off x="10200203" y="2661166"/>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Size of Kaggle dataset analyzed</a:t>
            </a:r>
            <a:endParaRPr lang="en-US" sz="1450" dirty="0"/>
          </a:p>
        </p:txBody>
      </p:sp>
      <p:sp>
        <p:nvSpPr>
          <p:cNvPr id="10" name="Text 7"/>
          <p:cNvSpPr/>
          <p:nvPr/>
        </p:nvSpPr>
        <p:spPr>
          <a:xfrm>
            <a:off x="8174355" y="3625929"/>
            <a:ext cx="3767971" cy="624364"/>
          </a:xfrm>
          <a:prstGeom prst="rect">
            <a:avLst/>
          </a:prstGeom>
          <a:noFill/>
          <a:ln/>
        </p:spPr>
        <p:txBody>
          <a:bodyPr wrap="none" lIns="0" tIns="0" rIns="0" bIns="0" rtlCol="0" anchor="t"/>
          <a:lstStyle/>
          <a:p>
            <a:pPr marL="0" indent="0" algn="ctr">
              <a:lnSpc>
                <a:spcPts val="4900"/>
              </a:lnSpc>
              <a:buNone/>
            </a:pPr>
            <a:r>
              <a:rPr lang="en-US" sz="4900" b="1" dirty="0">
                <a:solidFill>
                  <a:srgbClr val="37A7E7"/>
                </a:solidFill>
                <a:latin typeface="Spline Sans Bold" pitchFamily="34" charset="0"/>
                <a:ea typeface="Spline Sans Bold" pitchFamily="34" charset="-122"/>
                <a:cs typeface="Spline Sans Bold" pitchFamily="34" charset="-120"/>
              </a:rPr>
              <a:t>97%</a:t>
            </a:r>
            <a:endParaRPr lang="en-US" sz="4900" dirty="0"/>
          </a:p>
        </p:txBody>
      </p:sp>
      <p:sp>
        <p:nvSpPr>
          <p:cNvPr id="11" name="Text 8"/>
          <p:cNvSpPr/>
          <p:nvPr/>
        </p:nvSpPr>
        <p:spPr>
          <a:xfrm>
            <a:off x="9007078" y="4486632"/>
            <a:ext cx="2102406" cy="262771"/>
          </a:xfrm>
          <a:prstGeom prst="rect">
            <a:avLst/>
          </a:prstGeom>
          <a:noFill/>
          <a:ln/>
        </p:spPr>
        <p:txBody>
          <a:bodyPr wrap="none" lIns="0" tIns="0" rIns="0" bIns="0" rtlCol="0" anchor="t"/>
          <a:lstStyle/>
          <a:p>
            <a:pPr marL="0" indent="0" algn="ctr">
              <a:lnSpc>
                <a:spcPts val="2050"/>
              </a:lnSpc>
              <a:buNone/>
            </a:pPr>
            <a:r>
              <a:rPr lang="en-US" sz="1650" b="1" dirty="0">
                <a:solidFill>
                  <a:srgbClr val="E0E4E6"/>
                </a:solidFill>
                <a:latin typeface="Spline Sans Bold" pitchFamily="34" charset="0"/>
                <a:ea typeface="Spline Sans Bold" pitchFamily="34" charset="-122"/>
                <a:cs typeface="Spline Sans Bold" pitchFamily="34" charset="-120"/>
              </a:rPr>
              <a:t>Accuracy</a:t>
            </a:r>
            <a:endParaRPr lang="en-US" sz="1650" dirty="0"/>
          </a:p>
        </p:txBody>
      </p:sp>
      <p:sp>
        <p:nvSpPr>
          <p:cNvPr id="12" name="Text 9"/>
          <p:cNvSpPr/>
          <p:nvPr/>
        </p:nvSpPr>
        <p:spPr>
          <a:xfrm>
            <a:off x="8174355" y="4862870"/>
            <a:ext cx="3767971" cy="302657"/>
          </a:xfrm>
          <a:prstGeom prst="rect">
            <a:avLst/>
          </a:prstGeom>
          <a:noFill/>
          <a:ln/>
        </p:spPr>
        <p:txBody>
          <a:bodyPr wrap="non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Model performance on test data</a:t>
            </a:r>
            <a:endParaRPr lang="en-US" sz="1450" dirty="0"/>
          </a:p>
        </p:txBody>
      </p:sp>
      <p:sp>
        <p:nvSpPr>
          <p:cNvPr id="13" name="Text 10"/>
          <p:cNvSpPr/>
          <p:nvPr/>
        </p:nvSpPr>
        <p:spPr>
          <a:xfrm>
            <a:off x="6148626" y="5378291"/>
            <a:ext cx="7819549" cy="1210628"/>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Financial fraud represents a significant challenge for banking institutions, costing billions annually in direct losses and mitigation expenses. This research aims to detect fraudulent bank transactions using machine learning techniques applied to the Kaggle Bank Transaction Dataset.</a:t>
            </a:r>
            <a:endParaRPr lang="en-US" sz="1450" dirty="0"/>
          </a:p>
        </p:txBody>
      </p:sp>
      <p:sp>
        <p:nvSpPr>
          <p:cNvPr id="14" name="Text 11"/>
          <p:cNvSpPr/>
          <p:nvPr/>
        </p:nvSpPr>
        <p:spPr>
          <a:xfrm>
            <a:off x="6148626" y="6801683"/>
            <a:ext cx="7819549" cy="907971"/>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Our approach combines exploratory data analysis, anomaly detection through Isolation Forest algorithm, and classification using Random Forest. The results provide both accurate fraud prediction capabilities and valuable insights for prevention strategies.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366123"/>
            <a:ext cx="8374737" cy="685800"/>
          </a:xfrm>
          <a:prstGeom prst="rect">
            <a:avLst/>
          </a:prstGeom>
          <a:noFill/>
          <a:ln/>
        </p:spPr>
        <p:txBody>
          <a:bodyPr wrap="none" lIns="0" tIns="0" rIns="0" bIns="0" rtlCol="0" anchor="t"/>
          <a:lstStyle/>
          <a:p>
            <a:pPr marL="0" indent="0" algn="l">
              <a:lnSpc>
                <a:spcPts val="5400"/>
              </a:lnSpc>
              <a:buNone/>
            </a:pPr>
            <a:r>
              <a:rPr lang="en-US" sz="4300" b="1" dirty="0">
                <a:solidFill>
                  <a:srgbClr val="F0FCFF"/>
                </a:solidFill>
                <a:latin typeface="Spline Sans Bold" pitchFamily="34" charset="0"/>
                <a:ea typeface="Spline Sans Bold" pitchFamily="34" charset="-122"/>
                <a:cs typeface="Spline Sans Bold" pitchFamily="34" charset="-120"/>
              </a:rPr>
              <a:t>Problem Statement &amp; Objectives</a:t>
            </a:r>
            <a:endParaRPr lang="en-US" sz="4300" dirty="0"/>
          </a:p>
        </p:txBody>
      </p:sp>
      <p:sp>
        <p:nvSpPr>
          <p:cNvPr id="3" name="Text 1"/>
          <p:cNvSpPr/>
          <p:nvPr/>
        </p:nvSpPr>
        <p:spPr>
          <a:xfrm>
            <a:off x="864037"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The Problem</a:t>
            </a:r>
            <a:endParaRPr lang="en-US" sz="2150" dirty="0"/>
          </a:p>
        </p:txBody>
      </p:sp>
      <p:sp>
        <p:nvSpPr>
          <p:cNvPr id="4" name="Text 2"/>
          <p:cNvSpPr/>
          <p:nvPr/>
        </p:nvSpPr>
        <p:spPr>
          <a:xfrm>
            <a:off x="864037" y="3258741"/>
            <a:ext cx="6150054" cy="1975247"/>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Traditional rule-based fraud detection systems struggle to identify evolving fraud patterns. Sophisticated fraudsters continuously adapt their techniques to bypass static controls. Meanwhile, legitimate customers face friction from false positives.</a:t>
            </a:r>
            <a:endParaRPr lang="en-US" sz="1900" dirty="0"/>
          </a:p>
        </p:txBody>
      </p:sp>
      <p:sp>
        <p:nvSpPr>
          <p:cNvPr id="5" name="Text 3"/>
          <p:cNvSpPr/>
          <p:nvPr/>
        </p:nvSpPr>
        <p:spPr>
          <a:xfrm>
            <a:off x="864037" y="5456158"/>
            <a:ext cx="6150054" cy="1185148"/>
          </a:xfrm>
          <a:prstGeom prst="rect">
            <a:avLst/>
          </a:prstGeom>
          <a:noFill/>
          <a:ln/>
        </p:spPr>
        <p:txBody>
          <a:bodyPr wrap="square" lIns="0" tIns="0" rIns="0" bIns="0" rtlCol="0" anchor="t"/>
          <a:lstStyle/>
          <a:p>
            <a:pPr marL="0" indent="0" algn="l">
              <a:lnSpc>
                <a:spcPts val="3100"/>
              </a:lnSpc>
              <a:buNone/>
            </a:pPr>
            <a:r>
              <a:rPr lang="en-US" sz="1900" dirty="0">
                <a:solidFill>
                  <a:srgbClr val="E0E4E6"/>
                </a:solidFill>
                <a:latin typeface="Barlow" pitchFamily="34" charset="0"/>
                <a:ea typeface="Barlow" pitchFamily="34" charset="-122"/>
                <a:cs typeface="Barlow" pitchFamily="34" charset="-120"/>
              </a:rPr>
              <a:t>Banks need dynamic solutions that can learn from historical data while adapting to new patterns without excessive manual intervention.</a:t>
            </a:r>
            <a:endParaRPr lang="en-US" sz="1900" dirty="0"/>
          </a:p>
        </p:txBody>
      </p:sp>
      <p:sp>
        <p:nvSpPr>
          <p:cNvPr id="6" name="Text 4"/>
          <p:cNvSpPr/>
          <p:nvPr/>
        </p:nvSpPr>
        <p:spPr>
          <a:xfrm>
            <a:off x="7623929" y="2669024"/>
            <a:ext cx="2743200" cy="342900"/>
          </a:xfrm>
          <a:prstGeom prst="rect">
            <a:avLst/>
          </a:prstGeom>
          <a:noFill/>
          <a:ln/>
        </p:spPr>
        <p:txBody>
          <a:bodyPr wrap="none" lIns="0" tIns="0" rIns="0" bIns="0" rtlCol="0" anchor="t"/>
          <a:lstStyle/>
          <a:p>
            <a:pPr marL="0" indent="0" algn="l">
              <a:lnSpc>
                <a:spcPts val="2700"/>
              </a:lnSpc>
              <a:buNone/>
            </a:pPr>
            <a:r>
              <a:rPr lang="en-US" sz="2150" b="1" dirty="0">
                <a:solidFill>
                  <a:srgbClr val="F0FCFF"/>
                </a:solidFill>
                <a:latin typeface="Spline Sans Bold" pitchFamily="34" charset="0"/>
                <a:ea typeface="Spline Sans Bold" pitchFamily="34" charset="-122"/>
                <a:cs typeface="Spline Sans Bold" pitchFamily="34" charset="-120"/>
              </a:rPr>
              <a:t>Our Objectives</a:t>
            </a:r>
            <a:endParaRPr lang="en-US" sz="2150" dirty="0"/>
          </a:p>
        </p:txBody>
      </p:sp>
      <p:sp>
        <p:nvSpPr>
          <p:cNvPr id="7" name="Text 5"/>
          <p:cNvSpPr/>
          <p:nvPr/>
        </p:nvSpPr>
        <p:spPr>
          <a:xfrm>
            <a:off x="7623929" y="3258741"/>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Identify key indicators and patterns of fraudulent transactions</a:t>
            </a:r>
            <a:endParaRPr lang="en-US" sz="1900" dirty="0"/>
          </a:p>
        </p:txBody>
      </p:sp>
      <p:sp>
        <p:nvSpPr>
          <p:cNvPr id="8" name="Text 6"/>
          <p:cNvSpPr/>
          <p:nvPr/>
        </p:nvSpPr>
        <p:spPr>
          <a:xfrm>
            <a:off x="7623929" y="4135160"/>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Apply machine learning algorithms to detect anomalies in transaction data</a:t>
            </a:r>
            <a:endParaRPr lang="en-US" sz="1900" dirty="0"/>
          </a:p>
        </p:txBody>
      </p:sp>
      <p:sp>
        <p:nvSpPr>
          <p:cNvPr id="9" name="Text 7"/>
          <p:cNvSpPr/>
          <p:nvPr/>
        </p:nvSpPr>
        <p:spPr>
          <a:xfrm>
            <a:off x="7623929" y="5011579"/>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Improve detection accuracy through feature engineering and model tuning</a:t>
            </a:r>
            <a:endParaRPr lang="en-US" sz="1900" dirty="0"/>
          </a:p>
        </p:txBody>
      </p:sp>
      <p:sp>
        <p:nvSpPr>
          <p:cNvPr id="10" name="Text 8"/>
          <p:cNvSpPr/>
          <p:nvPr/>
        </p:nvSpPr>
        <p:spPr>
          <a:xfrm>
            <a:off x="7623929" y="5887998"/>
            <a:ext cx="6150054" cy="790099"/>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0E4E6"/>
                </a:solidFill>
                <a:latin typeface="Barlow" pitchFamily="34" charset="0"/>
                <a:ea typeface="Barlow" pitchFamily="34" charset="-122"/>
                <a:cs typeface="Barlow" pitchFamily="34" charset="-120"/>
              </a:rPr>
              <a:t>Minimize false positives while maximizing fraud capture rate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4363"/>
          </a:xfrm>
          <a:prstGeom prst="rect">
            <a:avLst/>
          </a:prstGeom>
        </p:spPr>
      </p:pic>
      <p:sp>
        <p:nvSpPr>
          <p:cNvPr id="3" name="Text 0"/>
          <p:cNvSpPr/>
          <p:nvPr/>
        </p:nvSpPr>
        <p:spPr>
          <a:xfrm>
            <a:off x="734020" y="576739"/>
            <a:ext cx="4660702" cy="582573"/>
          </a:xfrm>
          <a:prstGeom prst="rect">
            <a:avLst/>
          </a:prstGeom>
          <a:noFill/>
          <a:ln/>
        </p:spPr>
        <p:txBody>
          <a:bodyPr wrap="none" lIns="0" tIns="0" rIns="0" bIns="0" rtlCol="0" anchor="t"/>
          <a:lstStyle/>
          <a:p>
            <a:pPr marL="0" indent="0" algn="l">
              <a:lnSpc>
                <a:spcPts val="4550"/>
              </a:lnSpc>
              <a:buNone/>
            </a:pPr>
            <a:r>
              <a:rPr lang="en-US" sz="3650" b="1" dirty="0">
                <a:solidFill>
                  <a:srgbClr val="F0FCFF"/>
                </a:solidFill>
                <a:latin typeface="Spline Sans Bold" pitchFamily="34" charset="0"/>
                <a:ea typeface="Spline Sans Bold" pitchFamily="34" charset="-122"/>
                <a:cs typeface="Spline Sans Bold" pitchFamily="34" charset="-120"/>
              </a:rPr>
              <a:t>Dataset Overview</a:t>
            </a:r>
            <a:endParaRPr lang="en-US" sz="3650" dirty="0"/>
          </a:p>
        </p:txBody>
      </p:sp>
      <p:sp>
        <p:nvSpPr>
          <p:cNvPr id="4" name="Shape 1"/>
          <p:cNvSpPr/>
          <p:nvPr/>
        </p:nvSpPr>
        <p:spPr>
          <a:xfrm>
            <a:off x="734020" y="1473875"/>
            <a:ext cx="7675959" cy="3362563"/>
          </a:xfrm>
          <a:prstGeom prst="roundRect">
            <a:avLst>
              <a:gd name="adj" fmla="val 9356"/>
            </a:avLst>
          </a:prstGeom>
          <a:noFill/>
          <a:ln w="7620">
            <a:solidFill>
              <a:srgbClr val="FFFFFF">
                <a:alpha val="24000"/>
              </a:srgbClr>
            </a:solidFill>
            <a:prstDash val="solid"/>
          </a:ln>
        </p:spPr>
        <p:txBody>
          <a:bodyPr/>
          <a:lstStyle/>
          <a:p>
            <a:endParaRPr lang="en-IN"/>
          </a:p>
        </p:txBody>
      </p:sp>
      <p:sp>
        <p:nvSpPr>
          <p:cNvPr id="5" name="Shape 2"/>
          <p:cNvSpPr/>
          <p:nvPr/>
        </p:nvSpPr>
        <p:spPr>
          <a:xfrm>
            <a:off x="741640" y="1481495"/>
            <a:ext cx="7660719" cy="602337"/>
          </a:xfrm>
          <a:prstGeom prst="rect">
            <a:avLst/>
          </a:prstGeom>
          <a:solidFill>
            <a:srgbClr val="FFFFFF">
              <a:alpha val="4000"/>
            </a:srgbClr>
          </a:solidFill>
          <a:ln/>
        </p:spPr>
        <p:txBody>
          <a:bodyPr/>
          <a:lstStyle/>
          <a:p>
            <a:endParaRPr lang="en-IN"/>
          </a:p>
        </p:txBody>
      </p:sp>
      <p:sp>
        <p:nvSpPr>
          <p:cNvPr id="6" name="Text 3"/>
          <p:cNvSpPr/>
          <p:nvPr/>
        </p:nvSpPr>
        <p:spPr>
          <a:xfrm>
            <a:off x="95130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Dataset Size</a:t>
            </a:r>
            <a:endParaRPr lang="en-US" sz="1650" dirty="0"/>
          </a:p>
        </p:txBody>
      </p:sp>
      <p:sp>
        <p:nvSpPr>
          <p:cNvPr id="7" name="Text 4"/>
          <p:cNvSpPr/>
          <p:nvPr/>
        </p:nvSpPr>
        <p:spPr>
          <a:xfrm>
            <a:off x="4785479" y="1614845"/>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2,512 transactions</a:t>
            </a:r>
            <a:endParaRPr lang="en-US" sz="1650" dirty="0"/>
          </a:p>
        </p:txBody>
      </p:sp>
      <p:sp>
        <p:nvSpPr>
          <p:cNvPr id="8" name="Shape 5"/>
          <p:cNvSpPr/>
          <p:nvPr/>
        </p:nvSpPr>
        <p:spPr>
          <a:xfrm>
            <a:off x="741640" y="2083832"/>
            <a:ext cx="7660719" cy="602337"/>
          </a:xfrm>
          <a:prstGeom prst="rect">
            <a:avLst/>
          </a:prstGeom>
          <a:solidFill>
            <a:srgbClr val="000000">
              <a:alpha val="4000"/>
            </a:srgbClr>
          </a:solidFill>
          <a:ln/>
        </p:spPr>
        <p:txBody>
          <a:bodyPr/>
          <a:lstStyle/>
          <a:p>
            <a:endParaRPr lang="en-IN"/>
          </a:p>
        </p:txBody>
      </p:sp>
      <p:sp>
        <p:nvSpPr>
          <p:cNvPr id="9" name="Text 6"/>
          <p:cNvSpPr/>
          <p:nvPr/>
        </p:nvSpPr>
        <p:spPr>
          <a:xfrm>
            <a:off x="95130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Transaction Features</a:t>
            </a:r>
            <a:endParaRPr lang="en-US" sz="1650" dirty="0"/>
          </a:p>
        </p:txBody>
      </p:sp>
      <p:sp>
        <p:nvSpPr>
          <p:cNvPr id="10" name="Text 7"/>
          <p:cNvSpPr/>
          <p:nvPr/>
        </p:nvSpPr>
        <p:spPr>
          <a:xfrm>
            <a:off x="4785479" y="2217182"/>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Amount, Type, Timestamp</a:t>
            </a:r>
            <a:endParaRPr lang="en-US" sz="1650" dirty="0"/>
          </a:p>
        </p:txBody>
      </p:sp>
      <p:sp>
        <p:nvSpPr>
          <p:cNvPr id="11" name="Shape 8"/>
          <p:cNvSpPr/>
          <p:nvPr/>
        </p:nvSpPr>
        <p:spPr>
          <a:xfrm>
            <a:off x="741640" y="2686169"/>
            <a:ext cx="7660719" cy="602337"/>
          </a:xfrm>
          <a:prstGeom prst="rect">
            <a:avLst/>
          </a:prstGeom>
          <a:solidFill>
            <a:srgbClr val="FFFFFF">
              <a:alpha val="4000"/>
            </a:srgbClr>
          </a:solidFill>
          <a:ln/>
        </p:spPr>
        <p:txBody>
          <a:bodyPr/>
          <a:lstStyle/>
          <a:p>
            <a:endParaRPr lang="en-IN"/>
          </a:p>
        </p:txBody>
      </p:sp>
      <p:sp>
        <p:nvSpPr>
          <p:cNvPr id="12" name="Text 9"/>
          <p:cNvSpPr/>
          <p:nvPr/>
        </p:nvSpPr>
        <p:spPr>
          <a:xfrm>
            <a:off x="95130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Channel Features</a:t>
            </a:r>
            <a:endParaRPr lang="en-US" sz="1650" dirty="0"/>
          </a:p>
        </p:txBody>
      </p:sp>
      <p:sp>
        <p:nvSpPr>
          <p:cNvPr id="13" name="Text 10"/>
          <p:cNvSpPr/>
          <p:nvPr/>
        </p:nvSpPr>
        <p:spPr>
          <a:xfrm>
            <a:off x="4785479" y="2819519"/>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Device ID, IP Address, Browser</a:t>
            </a:r>
            <a:endParaRPr lang="en-US" sz="1650" dirty="0"/>
          </a:p>
        </p:txBody>
      </p:sp>
      <p:sp>
        <p:nvSpPr>
          <p:cNvPr id="14" name="Shape 11"/>
          <p:cNvSpPr/>
          <p:nvPr/>
        </p:nvSpPr>
        <p:spPr>
          <a:xfrm>
            <a:off x="741640" y="3288506"/>
            <a:ext cx="7660719" cy="937974"/>
          </a:xfrm>
          <a:prstGeom prst="rect">
            <a:avLst/>
          </a:prstGeom>
          <a:solidFill>
            <a:srgbClr val="000000">
              <a:alpha val="4000"/>
            </a:srgbClr>
          </a:solidFill>
          <a:ln/>
        </p:spPr>
        <p:txBody>
          <a:bodyPr/>
          <a:lstStyle/>
          <a:p>
            <a:endParaRPr lang="en-IN"/>
          </a:p>
        </p:txBody>
      </p:sp>
      <p:sp>
        <p:nvSpPr>
          <p:cNvPr id="15" name="Text 12"/>
          <p:cNvSpPr/>
          <p:nvPr/>
        </p:nvSpPr>
        <p:spPr>
          <a:xfrm>
            <a:off x="951309" y="3421856"/>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Customer Features</a:t>
            </a:r>
            <a:endParaRPr lang="en-US" sz="1650" dirty="0"/>
          </a:p>
        </p:txBody>
      </p:sp>
      <p:sp>
        <p:nvSpPr>
          <p:cNvPr id="16" name="Text 13"/>
          <p:cNvSpPr/>
          <p:nvPr/>
        </p:nvSpPr>
        <p:spPr>
          <a:xfrm>
            <a:off x="4785479" y="3421856"/>
            <a:ext cx="3407212" cy="671274"/>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Age, Account Balance, Login Attempts</a:t>
            </a:r>
            <a:endParaRPr lang="en-US" sz="1650" dirty="0"/>
          </a:p>
        </p:txBody>
      </p:sp>
      <p:sp>
        <p:nvSpPr>
          <p:cNvPr id="17" name="Shape 14"/>
          <p:cNvSpPr/>
          <p:nvPr/>
        </p:nvSpPr>
        <p:spPr>
          <a:xfrm>
            <a:off x="741640" y="4226481"/>
            <a:ext cx="7660719" cy="602337"/>
          </a:xfrm>
          <a:prstGeom prst="rect">
            <a:avLst/>
          </a:prstGeom>
          <a:solidFill>
            <a:srgbClr val="FFFFFF">
              <a:alpha val="4000"/>
            </a:srgbClr>
          </a:solidFill>
          <a:ln/>
        </p:spPr>
        <p:txBody>
          <a:bodyPr/>
          <a:lstStyle/>
          <a:p>
            <a:endParaRPr lang="en-IN"/>
          </a:p>
        </p:txBody>
      </p:sp>
      <p:sp>
        <p:nvSpPr>
          <p:cNvPr id="18" name="Text 15"/>
          <p:cNvSpPr/>
          <p:nvPr/>
        </p:nvSpPr>
        <p:spPr>
          <a:xfrm>
            <a:off x="95130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Data Quality</a:t>
            </a:r>
            <a:endParaRPr lang="en-US" sz="1650" dirty="0"/>
          </a:p>
        </p:txBody>
      </p:sp>
      <p:sp>
        <p:nvSpPr>
          <p:cNvPr id="19" name="Text 16"/>
          <p:cNvSpPr/>
          <p:nvPr/>
        </p:nvSpPr>
        <p:spPr>
          <a:xfrm>
            <a:off x="4785479" y="4359831"/>
            <a:ext cx="3407212" cy="335637"/>
          </a:xfrm>
          <a:prstGeom prst="rect">
            <a:avLst/>
          </a:prstGeom>
          <a:noFill/>
          <a:ln/>
        </p:spPr>
        <p:txBody>
          <a:bodyPr wrap="non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No missing or duplicate values</a:t>
            </a:r>
            <a:endParaRPr lang="en-US" sz="1650" dirty="0"/>
          </a:p>
        </p:txBody>
      </p:sp>
      <p:sp>
        <p:nvSpPr>
          <p:cNvPr id="20" name="Text 17"/>
          <p:cNvSpPr/>
          <p:nvPr/>
        </p:nvSpPr>
        <p:spPr>
          <a:xfrm>
            <a:off x="734020" y="5072301"/>
            <a:ext cx="7675959" cy="1342549"/>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The Kaggle Bank Transaction Dataset provides a comprehensive view of banking activities, capturing both transaction-specific information and contextual data about the customer and channel. This rich dataset enables multi-dimensional analysis of transaction patterns.</a:t>
            </a:r>
            <a:endParaRPr lang="en-US" sz="1650" dirty="0"/>
          </a:p>
        </p:txBody>
      </p:sp>
      <p:sp>
        <p:nvSpPr>
          <p:cNvPr id="21" name="Text 18"/>
          <p:cNvSpPr/>
          <p:nvPr/>
        </p:nvSpPr>
        <p:spPr>
          <a:xfrm>
            <a:off x="734020" y="6650712"/>
            <a:ext cx="7675959" cy="1006912"/>
          </a:xfrm>
          <a:prstGeom prst="rect">
            <a:avLst/>
          </a:prstGeom>
          <a:noFill/>
          <a:ln/>
        </p:spPr>
        <p:txBody>
          <a:bodyPr wrap="square" lIns="0" tIns="0" rIns="0" bIns="0" rtlCol="0" anchor="t"/>
          <a:lstStyle/>
          <a:p>
            <a:pPr marL="0" indent="0" algn="l">
              <a:lnSpc>
                <a:spcPts val="2600"/>
              </a:lnSpc>
              <a:buNone/>
            </a:pPr>
            <a:r>
              <a:rPr lang="en-US" sz="1650" dirty="0">
                <a:solidFill>
                  <a:srgbClr val="E0E4E6"/>
                </a:solidFill>
                <a:latin typeface="Barlow" pitchFamily="34" charset="0"/>
                <a:ea typeface="Barlow" pitchFamily="34" charset="-122"/>
                <a:cs typeface="Barlow" pitchFamily="34" charset="-120"/>
              </a:rPr>
              <a:t>Initial data quality assessment revealed a well-curated dataset with no missing values or duplicates, allowing us to proceed directly to exploratory analysis without extensive cleaning procedures.</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0099" y="808792"/>
            <a:ext cx="7478554" cy="627102"/>
          </a:xfrm>
          <a:prstGeom prst="rect">
            <a:avLst/>
          </a:prstGeom>
          <a:noFill/>
          <a:ln/>
        </p:spPr>
        <p:txBody>
          <a:bodyPr wrap="none" lIns="0" tIns="0" rIns="0" bIns="0" rtlCol="0" anchor="t"/>
          <a:lstStyle/>
          <a:p>
            <a:pPr marL="0" indent="0" algn="l">
              <a:lnSpc>
                <a:spcPts val="4900"/>
              </a:lnSpc>
              <a:buNone/>
            </a:pPr>
            <a:r>
              <a:rPr lang="en-US" sz="3950" b="1" dirty="0">
                <a:solidFill>
                  <a:srgbClr val="F0FCFF"/>
                </a:solidFill>
                <a:latin typeface="Spline Sans Bold" pitchFamily="34" charset="0"/>
                <a:ea typeface="Spline Sans Bold" pitchFamily="34" charset="-122"/>
                <a:cs typeface="Spline Sans Bold" pitchFamily="34" charset="-120"/>
              </a:rPr>
              <a:t>Exploratory Data Analysis (EDA)</a:t>
            </a:r>
            <a:endParaRPr lang="en-US" sz="3950" dirty="0"/>
          </a:p>
        </p:txBody>
      </p:sp>
      <p:sp>
        <p:nvSpPr>
          <p:cNvPr id="3" name="Shape 1"/>
          <p:cNvSpPr/>
          <p:nvPr/>
        </p:nvSpPr>
        <p:spPr>
          <a:xfrm>
            <a:off x="790099" y="1887379"/>
            <a:ext cx="4199573" cy="4196120"/>
          </a:xfrm>
          <a:prstGeom prst="roundRect">
            <a:avLst>
              <a:gd name="adj" fmla="val 8071"/>
            </a:avLst>
          </a:prstGeom>
          <a:solidFill>
            <a:srgbClr val="0A081B"/>
          </a:solidFill>
          <a:ln w="22860">
            <a:solidFill>
              <a:srgbClr val="16FFBB"/>
            </a:solidFill>
            <a:prstDash val="solid"/>
          </a:ln>
        </p:spPr>
        <p:txBody>
          <a:bodyPr/>
          <a:lstStyle/>
          <a:p>
            <a:endParaRPr lang="en-IN"/>
          </a:p>
        </p:txBody>
      </p:sp>
      <p:sp>
        <p:nvSpPr>
          <p:cNvPr id="4" name="Text 2"/>
          <p:cNvSpPr/>
          <p:nvPr/>
        </p:nvSpPr>
        <p:spPr>
          <a:xfrm>
            <a:off x="103870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Univariate Analysis</a:t>
            </a:r>
            <a:endParaRPr lang="en-US" sz="1950" dirty="0"/>
          </a:p>
        </p:txBody>
      </p:sp>
      <p:sp>
        <p:nvSpPr>
          <p:cNvPr id="5" name="Text 3"/>
          <p:cNvSpPr/>
          <p:nvPr/>
        </p:nvSpPr>
        <p:spPr>
          <a:xfrm>
            <a:off x="103870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Transaction amounts follow a right-skewed distribution with most values under $1,000. Account balances cluster in three distinct groups, suggesting different customer segments. Transaction durations show bimodal distribution, indicating potential automated vs. manual processes.</a:t>
            </a:r>
            <a:endParaRPr lang="en-US" sz="1750" dirty="0"/>
          </a:p>
        </p:txBody>
      </p:sp>
      <p:sp>
        <p:nvSpPr>
          <p:cNvPr id="6" name="Shape 4"/>
          <p:cNvSpPr/>
          <p:nvPr/>
        </p:nvSpPr>
        <p:spPr>
          <a:xfrm>
            <a:off x="5215414" y="1887379"/>
            <a:ext cx="4199573" cy="4196120"/>
          </a:xfrm>
          <a:prstGeom prst="roundRect">
            <a:avLst>
              <a:gd name="adj" fmla="val 8071"/>
            </a:avLst>
          </a:prstGeom>
          <a:solidFill>
            <a:srgbClr val="0A081B"/>
          </a:solidFill>
          <a:ln w="22860">
            <a:solidFill>
              <a:srgbClr val="29DDDA"/>
            </a:solidFill>
            <a:prstDash val="solid"/>
          </a:ln>
        </p:spPr>
        <p:txBody>
          <a:bodyPr/>
          <a:lstStyle/>
          <a:p>
            <a:endParaRPr lang="en-IN"/>
          </a:p>
        </p:txBody>
      </p:sp>
      <p:sp>
        <p:nvSpPr>
          <p:cNvPr id="7" name="Text 5"/>
          <p:cNvSpPr/>
          <p:nvPr/>
        </p:nvSpPr>
        <p:spPr>
          <a:xfrm>
            <a:off x="5464016"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Categorical Analysis</a:t>
            </a:r>
            <a:endParaRPr lang="en-US" sz="1950" dirty="0"/>
          </a:p>
        </p:txBody>
      </p:sp>
      <p:sp>
        <p:nvSpPr>
          <p:cNvPr id="8" name="Text 6"/>
          <p:cNvSpPr/>
          <p:nvPr/>
        </p:nvSpPr>
        <p:spPr>
          <a:xfrm>
            <a:off x="5464016" y="2584847"/>
            <a:ext cx="3702368" cy="2888933"/>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Credit transfers represent 42% of transactions, followed by debit card (28%) and wire transfers (16%). Location data shows metropolitan areas have higher transaction frequency. Professional occupations show distinct transaction behavior compared to other segments.</a:t>
            </a:r>
            <a:endParaRPr lang="en-US" sz="1750" dirty="0"/>
          </a:p>
        </p:txBody>
      </p:sp>
      <p:sp>
        <p:nvSpPr>
          <p:cNvPr id="9" name="Shape 7"/>
          <p:cNvSpPr/>
          <p:nvPr/>
        </p:nvSpPr>
        <p:spPr>
          <a:xfrm>
            <a:off x="9640729" y="1887379"/>
            <a:ext cx="4199573" cy="4196120"/>
          </a:xfrm>
          <a:prstGeom prst="roundRect">
            <a:avLst>
              <a:gd name="adj" fmla="val 8071"/>
            </a:avLst>
          </a:prstGeom>
          <a:solidFill>
            <a:srgbClr val="0A081B"/>
          </a:solidFill>
          <a:ln w="22860">
            <a:solidFill>
              <a:srgbClr val="37A7E7"/>
            </a:solidFill>
            <a:prstDash val="solid"/>
          </a:ln>
        </p:spPr>
        <p:txBody>
          <a:bodyPr/>
          <a:lstStyle/>
          <a:p>
            <a:endParaRPr lang="en-IN"/>
          </a:p>
        </p:txBody>
      </p:sp>
      <p:sp>
        <p:nvSpPr>
          <p:cNvPr id="10" name="Text 8"/>
          <p:cNvSpPr/>
          <p:nvPr/>
        </p:nvSpPr>
        <p:spPr>
          <a:xfrm>
            <a:off x="9889331" y="2135981"/>
            <a:ext cx="2508528" cy="313492"/>
          </a:xfrm>
          <a:prstGeom prst="rect">
            <a:avLst/>
          </a:prstGeom>
          <a:noFill/>
          <a:ln/>
        </p:spPr>
        <p:txBody>
          <a:bodyPr wrap="none" lIns="0" tIns="0" rIns="0" bIns="0" rtlCol="0" anchor="t"/>
          <a:lstStyle/>
          <a:p>
            <a:pPr marL="0" indent="0" algn="l">
              <a:lnSpc>
                <a:spcPts val="2450"/>
              </a:lnSpc>
              <a:buNone/>
            </a:pPr>
            <a:r>
              <a:rPr lang="en-US" sz="1950" b="1" dirty="0">
                <a:solidFill>
                  <a:srgbClr val="E0E4E6"/>
                </a:solidFill>
                <a:latin typeface="Spline Sans Bold" pitchFamily="34" charset="0"/>
                <a:ea typeface="Spline Sans Bold" pitchFamily="34" charset="-122"/>
                <a:cs typeface="Spline Sans Bold" pitchFamily="34" charset="-120"/>
              </a:rPr>
              <a:t>Temporal Patterns</a:t>
            </a:r>
            <a:endParaRPr lang="en-US" sz="1950" dirty="0"/>
          </a:p>
        </p:txBody>
      </p:sp>
      <p:sp>
        <p:nvSpPr>
          <p:cNvPr id="11" name="Text 9"/>
          <p:cNvSpPr/>
          <p:nvPr/>
        </p:nvSpPr>
        <p:spPr>
          <a:xfrm>
            <a:off x="9889331" y="2584847"/>
            <a:ext cx="3702368" cy="325004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Most transactions occur between 10AM and 4PM on weekdays. Transaction volume peaks on Fridays. Seasonal patterns show higher activity at month-end and during holiday periods. The time gap between consecutive transactions varies significantly by customer segment.</a:t>
            </a:r>
            <a:endParaRPr lang="en-US" sz="1750" dirty="0"/>
          </a:p>
        </p:txBody>
      </p:sp>
      <p:sp>
        <p:nvSpPr>
          <p:cNvPr id="12" name="Text 10"/>
          <p:cNvSpPr/>
          <p:nvPr/>
        </p:nvSpPr>
        <p:spPr>
          <a:xfrm>
            <a:off x="790099" y="6337459"/>
            <a:ext cx="13050203" cy="1083350"/>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Our EDA revealed several interesting patterns in customer behavior. Age and transaction behavior significantly vary by occupation, with younger professionals making more frequent but smaller transactions compared to older demographics who make fewer but larger transactions.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76156" y="532328"/>
            <a:ext cx="4293156" cy="536615"/>
          </a:xfrm>
          <a:prstGeom prst="rect">
            <a:avLst/>
          </a:prstGeom>
          <a:noFill/>
          <a:ln/>
        </p:spPr>
        <p:txBody>
          <a:bodyPr wrap="none" lIns="0" tIns="0" rIns="0" bIns="0" rtlCol="0" anchor="t"/>
          <a:lstStyle/>
          <a:p>
            <a:pPr marL="0" indent="0" algn="l">
              <a:lnSpc>
                <a:spcPts val="4200"/>
              </a:lnSpc>
              <a:buNone/>
            </a:pPr>
            <a:r>
              <a:rPr lang="en-US" sz="3350" b="1" dirty="0">
                <a:solidFill>
                  <a:srgbClr val="F0FCFF"/>
                </a:solidFill>
                <a:latin typeface="Spline Sans Bold" pitchFamily="34" charset="0"/>
                <a:ea typeface="Spline Sans Bold" pitchFamily="34" charset="-122"/>
                <a:cs typeface="Spline Sans Bold" pitchFamily="34" charset="-120"/>
              </a:rPr>
              <a:t>Feature Engineering</a:t>
            </a:r>
            <a:endParaRPr lang="en-US" sz="3350" dirty="0"/>
          </a:p>
        </p:txBody>
      </p:sp>
      <p:pic>
        <p:nvPicPr>
          <p:cNvPr id="3" name="Image 0" descr="preencoded.png"/>
          <p:cNvPicPr>
            <a:picLocks noChangeAspect="1"/>
          </p:cNvPicPr>
          <p:nvPr/>
        </p:nvPicPr>
        <p:blipFill>
          <a:blip r:embed="rId3"/>
          <a:stretch>
            <a:fillRect/>
          </a:stretch>
        </p:blipFill>
        <p:spPr>
          <a:xfrm>
            <a:off x="2900124" y="1455301"/>
            <a:ext cx="2190869" cy="1388507"/>
          </a:xfrm>
          <a:prstGeom prst="rect">
            <a:avLst/>
          </a:prstGeom>
        </p:spPr>
      </p:pic>
      <p:pic>
        <p:nvPicPr>
          <p:cNvPr id="4" name="Image 1" descr="preencoded.png"/>
          <p:cNvPicPr>
            <a:picLocks noChangeAspect="1"/>
          </p:cNvPicPr>
          <p:nvPr/>
        </p:nvPicPr>
        <p:blipFill>
          <a:blip r:embed="rId4"/>
          <a:stretch>
            <a:fillRect/>
          </a:stretch>
        </p:blipFill>
        <p:spPr>
          <a:xfrm>
            <a:off x="3859649" y="2159079"/>
            <a:ext cx="271582" cy="339566"/>
          </a:xfrm>
          <a:prstGeom prst="rect">
            <a:avLst/>
          </a:prstGeom>
        </p:spPr>
      </p:pic>
      <p:sp>
        <p:nvSpPr>
          <p:cNvPr id="5" name="Text 1"/>
          <p:cNvSpPr/>
          <p:nvPr/>
        </p:nvSpPr>
        <p:spPr>
          <a:xfrm>
            <a:off x="5284113" y="1802963"/>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Temporal Features</a:t>
            </a:r>
            <a:endParaRPr lang="en-US" sz="1650" dirty="0"/>
          </a:p>
        </p:txBody>
      </p:sp>
      <p:sp>
        <p:nvSpPr>
          <p:cNvPr id="6" name="Text 2"/>
          <p:cNvSpPr/>
          <p:nvPr/>
        </p:nvSpPr>
        <p:spPr>
          <a:xfrm>
            <a:off x="5284113" y="2187059"/>
            <a:ext cx="4584621"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TransactionHour, TransactionDay, WeekdayVsWeekend</a:t>
            </a:r>
            <a:endParaRPr lang="en-US" sz="1500" dirty="0"/>
          </a:p>
        </p:txBody>
      </p:sp>
      <p:sp>
        <p:nvSpPr>
          <p:cNvPr id="7" name="Shape 3"/>
          <p:cNvSpPr/>
          <p:nvPr/>
        </p:nvSpPr>
        <p:spPr>
          <a:xfrm>
            <a:off x="5139214" y="2858333"/>
            <a:ext cx="8766810" cy="11430"/>
          </a:xfrm>
          <a:prstGeom prst="roundRect">
            <a:avLst>
              <a:gd name="adj" fmla="val 2535336"/>
            </a:avLst>
          </a:prstGeom>
          <a:solidFill>
            <a:srgbClr val="16FFBB"/>
          </a:solidFill>
          <a:ln/>
        </p:spPr>
        <p:txBody>
          <a:bodyPr/>
          <a:lstStyle/>
          <a:p>
            <a:endParaRPr lang="en-IN"/>
          </a:p>
        </p:txBody>
      </p:sp>
      <p:pic>
        <p:nvPicPr>
          <p:cNvPr id="8" name="Image 2" descr="preencoded.png"/>
          <p:cNvPicPr>
            <a:picLocks noChangeAspect="1"/>
          </p:cNvPicPr>
          <p:nvPr/>
        </p:nvPicPr>
        <p:blipFill>
          <a:blip r:embed="rId5"/>
          <a:stretch>
            <a:fillRect/>
          </a:stretch>
        </p:blipFill>
        <p:spPr>
          <a:xfrm>
            <a:off x="1804749" y="2892028"/>
            <a:ext cx="4381738" cy="1388507"/>
          </a:xfrm>
          <a:prstGeom prst="rect">
            <a:avLst/>
          </a:prstGeom>
        </p:spPr>
      </p:pic>
      <p:pic>
        <p:nvPicPr>
          <p:cNvPr id="9" name="Image 3" descr="preencoded.png"/>
          <p:cNvPicPr>
            <a:picLocks noChangeAspect="1"/>
          </p:cNvPicPr>
          <p:nvPr/>
        </p:nvPicPr>
        <p:blipFill>
          <a:blip r:embed="rId6"/>
          <a:stretch>
            <a:fillRect/>
          </a:stretch>
        </p:blipFill>
        <p:spPr>
          <a:xfrm>
            <a:off x="3859768" y="3416498"/>
            <a:ext cx="271582" cy="339566"/>
          </a:xfrm>
          <a:prstGeom prst="rect">
            <a:avLst/>
          </a:prstGeom>
        </p:spPr>
      </p:pic>
      <p:sp>
        <p:nvSpPr>
          <p:cNvPr id="10" name="Text 4"/>
          <p:cNvSpPr/>
          <p:nvPr/>
        </p:nvSpPr>
        <p:spPr>
          <a:xfrm>
            <a:off x="6379607" y="3239691"/>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Behavioral Features</a:t>
            </a:r>
            <a:endParaRPr lang="en-US" sz="1650" dirty="0"/>
          </a:p>
        </p:txBody>
      </p:sp>
      <p:sp>
        <p:nvSpPr>
          <p:cNvPr id="11" name="Text 5"/>
          <p:cNvSpPr/>
          <p:nvPr/>
        </p:nvSpPr>
        <p:spPr>
          <a:xfrm>
            <a:off x="6379607" y="3623786"/>
            <a:ext cx="6367343" cy="309086"/>
          </a:xfrm>
          <a:prstGeom prst="rect">
            <a:avLst/>
          </a:prstGeom>
          <a:noFill/>
          <a:ln/>
        </p:spPr>
        <p:txBody>
          <a:bodyPr wrap="non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TimeSinceLastTransaction, TransactionFrequency, LoginToTransactionTime</a:t>
            </a:r>
            <a:endParaRPr lang="en-US" sz="1500" dirty="0"/>
          </a:p>
        </p:txBody>
      </p:sp>
      <p:sp>
        <p:nvSpPr>
          <p:cNvPr id="12" name="Shape 6"/>
          <p:cNvSpPr/>
          <p:nvPr/>
        </p:nvSpPr>
        <p:spPr>
          <a:xfrm>
            <a:off x="6234708" y="4295061"/>
            <a:ext cx="7671316" cy="11430"/>
          </a:xfrm>
          <a:prstGeom prst="roundRect">
            <a:avLst>
              <a:gd name="adj" fmla="val 2535336"/>
            </a:avLst>
          </a:prstGeom>
          <a:solidFill>
            <a:srgbClr val="29DDDA"/>
          </a:solidFill>
          <a:ln/>
        </p:spPr>
        <p:txBody>
          <a:bodyPr/>
          <a:lstStyle/>
          <a:p>
            <a:endParaRPr lang="en-IN"/>
          </a:p>
        </p:txBody>
      </p:sp>
      <p:pic>
        <p:nvPicPr>
          <p:cNvPr id="13" name="Image 4" descr="preencoded.png"/>
          <p:cNvPicPr>
            <a:picLocks noChangeAspect="1"/>
          </p:cNvPicPr>
          <p:nvPr/>
        </p:nvPicPr>
        <p:blipFill>
          <a:blip r:embed="rId7"/>
          <a:stretch>
            <a:fillRect/>
          </a:stretch>
        </p:blipFill>
        <p:spPr>
          <a:xfrm>
            <a:off x="709255" y="4328755"/>
            <a:ext cx="6572607" cy="1388507"/>
          </a:xfrm>
          <a:prstGeom prst="rect">
            <a:avLst/>
          </a:prstGeom>
        </p:spPr>
      </p:pic>
      <p:pic>
        <p:nvPicPr>
          <p:cNvPr id="14" name="Image 5" descr="preencoded.png"/>
          <p:cNvPicPr>
            <a:picLocks noChangeAspect="1"/>
          </p:cNvPicPr>
          <p:nvPr/>
        </p:nvPicPr>
        <p:blipFill>
          <a:blip r:embed="rId8"/>
          <a:stretch>
            <a:fillRect/>
          </a:stretch>
        </p:blipFill>
        <p:spPr>
          <a:xfrm>
            <a:off x="3859649" y="4853226"/>
            <a:ext cx="271582" cy="339566"/>
          </a:xfrm>
          <a:prstGeom prst="rect">
            <a:avLst/>
          </a:prstGeom>
        </p:spPr>
      </p:pic>
      <p:sp>
        <p:nvSpPr>
          <p:cNvPr id="15" name="Text 7"/>
          <p:cNvSpPr/>
          <p:nvPr/>
        </p:nvSpPr>
        <p:spPr>
          <a:xfrm>
            <a:off x="7474982" y="4521875"/>
            <a:ext cx="2146578" cy="268248"/>
          </a:xfrm>
          <a:prstGeom prst="rect">
            <a:avLst/>
          </a:prstGeom>
          <a:noFill/>
          <a:ln/>
        </p:spPr>
        <p:txBody>
          <a:bodyPr wrap="none" lIns="0" tIns="0" rIns="0" bIns="0" rtlCol="0" anchor="t"/>
          <a:lstStyle/>
          <a:p>
            <a:pPr marL="0" indent="0" algn="l">
              <a:lnSpc>
                <a:spcPts val="2100"/>
              </a:lnSpc>
              <a:buNone/>
            </a:pPr>
            <a:r>
              <a:rPr lang="en-US" sz="1650" b="1" dirty="0">
                <a:solidFill>
                  <a:srgbClr val="E0E4E6"/>
                </a:solidFill>
                <a:latin typeface="Spline Sans Bold" pitchFamily="34" charset="0"/>
                <a:ea typeface="Spline Sans Bold" pitchFamily="34" charset="-122"/>
                <a:cs typeface="Spline Sans Bold" pitchFamily="34" charset="-120"/>
              </a:rPr>
              <a:t>Financial Features</a:t>
            </a:r>
            <a:endParaRPr lang="en-US" sz="1650" dirty="0"/>
          </a:p>
        </p:txBody>
      </p:sp>
      <p:sp>
        <p:nvSpPr>
          <p:cNvPr id="16" name="Text 8"/>
          <p:cNvSpPr/>
          <p:nvPr/>
        </p:nvSpPr>
        <p:spPr>
          <a:xfrm>
            <a:off x="7474982" y="4905970"/>
            <a:ext cx="6286143"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AmountToBalanceRatio, TypicalAmountDeviation, AmountVsHistoricalAverage</a:t>
            </a:r>
            <a:endParaRPr lang="en-US" sz="1500" dirty="0"/>
          </a:p>
        </p:txBody>
      </p:sp>
      <p:sp>
        <p:nvSpPr>
          <p:cNvPr id="17" name="Text 9"/>
          <p:cNvSpPr/>
          <p:nvPr/>
        </p:nvSpPr>
        <p:spPr>
          <a:xfrm>
            <a:off x="676156" y="5934551"/>
            <a:ext cx="13278088" cy="927259"/>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Feature engineering significantly enhanced the predictive power of our models. By extracting temporal features like transaction hour and day, we captured daily and weekly patterns in customer behavior. Behavioral features measured unusual activity cadence, while financial features identified transactions that deviated from established norms.</a:t>
            </a:r>
            <a:endParaRPr lang="en-US" sz="1500" dirty="0"/>
          </a:p>
        </p:txBody>
      </p:sp>
      <p:sp>
        <p:nvSpPr>
          <p:cNvPr id="18" name="Text 10"/>
          <p:cNvSpPr/>
          <p:nvPr/>
        </p:nvSpPr>
        <p:spPr>
          <a:xfrm>
            <a:off x="676156" y="7079099"/>
            <a:ext cx="13278088" cy="618173"/>
          </a:xfrm>
          <a:prstGeom prst="rect">
            <a:avLst/>
          </a:prstGeom>
          <a:noFill/>
          <a:ln/>
        </p:spPr>
        <p:txBody>
          <a:bodyPr wrap="square" lIns="0" tIns="0" rIns="0" bIns="0" rtlCol="0" anchor="t"/>
          <a:lstStyle/>
          <a:p>
            <a:pPr marL="0" indent="0" algn="l">
              <a:lnSpc>
                <a:spcPts val="2400"/>
              </a:lnSpc>
              <a:buNone/>
            </a:pPr>
            <a:r>
              <a:rPr lang="en-US" sz="1500" dirty="0">
                <a:solidFill>
                  <a:srgbClr val="E0E4E6"/>
                </a:solidFill>
                <a:latin typeface="Barlow" pitchFamily="34" charset="0"/>
                <a:ea typeface="Barlow" pitchFamily="34" charset="-122"/>
                <a:cs typeface="Barlow" pitchFamily="34" charset="-120"/>
              </a:rPr>
              <a:t>After feature extraction, we encoded categorical variables using one-hot encoding and dropped irrelevant identifiers like unique transaction IDs which don't contribute to pattern detection. The final preprocessed dataset contained 32 features ready for model training.</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2944" y="544473"/>
            <a:ext cx="7567136" cy="550069"/>
          </a:xfrm>
          <a:prstGeom prst="rect">
            <a:avLst/>
          </a:prstGeom>
          <a:noFill/>
          <a:ln/>
        </p:spPr>
        <p:txBody>
          <a:bodyPr wrap="none" lIns="0" tIns="0" rIns="0" bIns="0" rtlCol="0" anchor="t"/>
          <a:lstStyle/>
          <a:p>
            <a:pPr marL="0" indent="0" algn="l">
              <a:lnSpc>
                <a:spcPts val="4300"/>
              </a:lnSpc>
              <a:buNone/>
            </a:pPr>
            <a:r>
              <a:rPr lang="en-US" sz="3450" b="1" dirty="0">
                <a:solidFill>
                  <a:srgbClr val="F0FCFF"/>
                </a:solidFill>
                <a:latin typeface="Spline Sans Bold" pitchFamily="34" charset="0"/>
                <a:ea typeface="Spline Sans Bold" pitchFamily="34" charset="-122"/>
                <a:cs typeface="Spline Sans Bold" pitchFamily="34" charset="-120"/>
              </a:rPr>
              <a:t>Anomaly Detection – Isolation Forest</a:t>
            </a:r>
            <a:endParaRPr lang="en-US" sz="3450" dirty="0"/>
          </a:p>
        </p:txBody>
      </p:sp>
      <p:sp>
        <p:nvSpPr>
          <p:cNvPr id="3" name="Text 1"/>
          <p:cNvSpPr/>
          <p:nvPr/>
        </p:nvSpPr>
        <p:spPr>
          <a:xfrm>
            <a:off x="2500432" y="2299097"/>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Isolation Principle</a:t>
            </a:r>
            <a:endParaRPr lang="en-US" sz="1700" dirty="0"/>
          </a:p>
        </p:txBody>
      </p:sp>
      <p:sp>
        <p:nvSpPr>
          <p:cNvPr id="4" name="Text 2"/>
          <p:cNvSpPr/>
          <p:nvPr/>
        </p:nvSpPr>
        <p:spPr>
          <a:xfrm>
            <a:off x="692944" y="269283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require fewer splits to isolate</a:t>
            </a:r>
            <a:endParaRPr lang="en-US" sz="1550" dirty="0"/>
          </a:p>
        </p:txBody>
      </p:sp>
      <p:pic>
        <p:nvPicPr>
          <p:cNvPr id="5" name="Image 0" descr="preencoded.png"/>
          <p:cNvPicPr>
            <a:picLocks noChangeAspect="1"/>
          </p:cNvPicPr>
          <p:nvPr/>
        </p:nvPicPr>
        <p:blipFill>
          <a:blip r:embed="rId3"/>
          <a:stretch>
            <a:fillRect/>
          </a:stretch>
        </p:blipFill>
        <p:spPr>
          <a:xfrm>
            <a:off x="4997410" y="1490543"/>
            <a:ext cx="4635579" cy="4635579"/>
          </a:xfrm>
          <a:prstGeom prst="rect">
            <a:avLst/>
          </a:prstGeom>
        </p:spPr>
      </p:pic>
      <p:pic>
        <p:nvPicPr>
          <p:cNvPr id="6" name="Image 1" descr="preencoded.png"/>
          <p:cNvPicPr>
            <a:picLocks noChangeAspect="1"/>
          </p:cNvPicPr>
          <p:nvPr/>
        </p:nvPicPr>
        <p:blipFill>
          <a:blip r:embed="rId4"/>
          <a:stretch>
            <a:fillRect/>
          </a:stretch>
        </p:blipFill>
        <p:spPr>
          <a:xfrm>
            <a:off x="6234053" y="2295704"/>
            <a:ext cx="296228" cy="370284"/>
          </a:xfrm>
          <a:prstGeom prst="rect">
            <a:avLst/>
          </a:prstGeom>
        </p:spPr>
      </p:pic>
      <p:sp>
        <p:nvSpPr>
          <p:cNvPr id="7" name="Text 3"/>
          <p:cNvSpPr/>
          <p:nvPr/>
        </p:nvSpPr>
        <p:spPr>
          <a:xfrm>
            <a:off x="9929932" y="2140744"/>
            <a:ext cx="2200037"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Model Training</a:t>
            </a:r>
            <a:endParaRPr lang="en-US" sz="1700" dirty="0"/>
          </a:p>
        </p:txBody>
      </p:sp>
      <p:sp>
        <p:nvSpPr>
          <p:cNvPr id="8" name="Text 4"/>
          <p:cNvSpPr/>
          <p:nvPr/>
        </p:nvSpPr>
        <p:spPr>
          <a:xfrm>
            <a:off x="9929932" y="2534483"/>
            <a:ext cx="4007525"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Contamination set to 5% based on industry estimates</a:t>
            </a:r>
            <a:endParaRPr lang="en-US" sz="1550" dirty="0"/>
          </a:p>
        </p:txBody>
      </p:sp>
      <p:pic>
        <p:nvPicPr>
          <p:cNvPr id="9" name="Image 2" descr="preencoded.png"/>
          <p:cNvPicPr>
            <a:picLocks noChangeAspect="1"/>
          </p:cNvPicPr>
          <p:nvPr/>
        </p:nvPicPr>
        <p:blipFill>
          <a:blip r:embed="rId5"/>
          <a:stretch>
            <a:fillRect/>
          </a:stretch>
        </p:blipFill>
        <p:spPr>
          <a:xfrm>
            <a:off x="4997410" y="1490543"/>
            <a:ext cx="4635579" cy="4635579"/>
          </a:xfrm>
          <a:prstGeom prst="rect">
            <a:avLst/>
          </a:prstGeom>
        </p:spPr>
      </p:pic>
      <p:pic>
        <p:nvPicPr>
          <p:cNvPr id="10" name="Image 3" descr="preencoded.png"/>
          <p:cNvPicPr>
            <a:picLocks noChangeAspect="1"/>
          </p:cNvPicPr>
          <p:nvPr/>
        </p:nvPicPr>
        <p:blipFill>
          <a:blip r:embed="rId6"/>
          <a:stretch>
            <a:fillRect/>
          </a:stretch>
        </p:blipFill>
        <p:spPr>
          <a:xfrm>
            <a:off x="8494335" y="2690158"/>
            <a:ext cx="296228" cy="370284"/>
          </a:xfrm>
          <a:prstGeom prst="rect">
            <a:avLst/>
          </a:prstGeom>
        </p:spPr>
      </p:pic>
      <p:sp>
        <p:nvSpPr>
          <p:cNvPr id="11" name="Text 5"/>
          <p:cNvSpPr/>
          <p:nvPr/>
        </p:nvSpPr>
        <p:spPr>
          <a:xfrm>
            <a:off x="9929932" y="4765358"/>
            <a:ext cx="2354818" cy="275034"/>
          </a:xfrm>
          <a:prstGeom prst="rect">
            <a:avLst/>
          </a:prstGeom>
          <a:noFill/>
          <a:ln/>
        </p:spPr>
        <p:txBody>
          <a:bodyPr wrap="none" lIns="0" tIns="0" rIns="0" bIns="0" rtlCol="0" anchor="t"/>
          <a:lstStyle/>
          <a:p>
            <a:pPr marL="0" indent="0" algn="l">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Anomaly Identification</a:t>
            </a:r>
            <a:endParaRPr lang="en-US" sz="1700" dirty="0"/>
          </a:p>
        </p:txBody>
      </p:sp>
      <p:sp>
        <p:nvSpPr>
          <p:cNvPr id="12" name="Text 6"/>
          <p:cNvSpPr/>
          <p:nvPr/>
        </p:nvSpPr>
        <p:spPr>
          <a:xfrm>
            <a:off x="9929932" y="5159097"/>
            <a:ext cx="4007525" cy="316706"/>
          </a:xfrm>
          <a:prstGeom prst="rect">
            <a:avLst/>
          </a:prstGeom>
          <a:noFill/>
          <a:ln/>
        </p:spPr>
        <p:txBody>
          <a:bodyPr wrap="non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126 suspicious transactions detected</a:t>
            </a:r>
            <a:endParaRPr lang="en-US" sz="1550" dirty="0"/>
          </a:p>
        </p:txBody>
      </p:sp>
      <p:pic>
        <p:nvPicPr>
          <p:cNvPr id="13" name="Image 4" descr="preencoded.png"/>
          <p:cNvPicPr>
            <a:picLocks noChangeAspect="1"/>
          </p:cNvPicPr>
          <p:nvPr/>
        </p:nvPicPr>
        <p:blipFill>
          <a:blip r:embed="rId7"/>
          <a:stretch>
            <a:fillRect/>
          </a:stretch>
        </p:blipFill>
        <p:spPr>
          <a:xfrm>
            <a:off x="4997410" y="1490543"/>
            <a:ext cx="4635579" cy="4635579"/>
          </a:xfrm>
          <a:prstGeom prst="rect">
            <a:avLst/>
          </a:prstGeom>
        </p:spPr>
      </p:pic>
      <p:pic>
        <p:nvPicPr>
          <p:cNvPr id="14" name="Image 5" descr="preencoded.png"/>
          <p:cNvPicPr>
            <a:picLocks noChangeAspect="1"/>
          </p:cNvPicPr>
          <p:nvPr/>
        </p:nvPicPr>
        <p:blipFill>
          <a:blip r:embed="rId8"/>
          <a:stretch>
            <a:fillRect/>
          </a:stretch>
        </p:blipFill>
        <p:spPr>
          <a:xfrm>
            <a:off x="8099881" y="4950440"/>
            <a:ext cx="296228" cy="370284"/>
          </a:xfrm>
          <a:prstGeom prst="rect">
            <a:avLst/>
          </a:prstGeom>
        </p:spPr>
      </p:pic>
      <p:sp>
        <p:nvSpPr>
          <p:cNvPr id="15" name="Text 7"/>
          <p:cNvSpPr/>
          <p:nvPr/>
        </p:nvSpPr>
        <p:spPr>
          <a:xfrm>
            <a:off x="2500432" y="4765358"/>
            <a:ext cx="2200037" cy="275034"/>
          </a:xfrm>
          <a:prstGeom prst="rect">
            <a:avLst/>
          </a:prstGeom>
          <a:noFill/>
          <a:ln/>
        </p:spPr>
        <p:txBody>
          <a:bodyPr wrap="none" lIns="0" tIns="0" rIns="0" bIns="0" rtlCol="0" anchor="t"/>
          <a:lstStyle/>
          <a:p>
            <a:pPr marL="0" indent="0" algn="r">
              <a:lnSpc>
                <a:spcPts val="2150"/>
              </a:lnSpc>
              <a:buNone/>
            </a:pPr>
            <a:r>
              <a:rPr lang="en-US" sz="1700" b="1" dirty="0">
                <a:solidFill>
                  <a:srgbClr val="E0E4E6"/>
                </a:solidFill>
                <a:latin typeface="Spline Sans Bold" pitchFamily="34" charset="0"/>
                <a:ea typeface="Spline Sans Bold" pitchFamily="34" charset="-122"/>
                <a:cs typeface="Spline Sans Bold" pitchFamily="34" charset="-120"/>
              </a:rPr>
              <a:t>Pattern Visualization</a:t>
            </a:r>
            <a:endParaRPr lang="en-US" sz="1700" dirty="0"/>
          </a:p>
        </p:txBody>
      </p:sp>
      <p:sp>
        <p:nvSpPr>
          <p:cNvPr id="16" name="Text 8"/>
          <p:cNvSpPr/>
          <p:nvPr/>
        </p:nvSpPr>
        <p:spPr>
          <a:xfrm>
            <a:off x="692944" y="5159097"/>
            <a:ext cx="4007525" cy="316706"/>
          </a:xfrm>
          <a:prstGeom prst="rect">
            <a:avLst/>
          </a:prstGeom>
          <a:noFill/>
          <a:ln/>
        </p:spPr>
        <p:txBody>
          <a:bodyPr wrap="none" lIns="0" tIns="0" rIns="0" bIns="0" rtlCol="0" anchor="t"/>
          <a:lstStyle/>
          <a:p>
            <a:pPr marL="0" indent="0" algn="r">
              <a:lnSpc>
                <a:spcPts val="2450"/>
              </a:lnSpc>
              <a:buNone/>
            </a:pPr>
            <a:r>
              <a:rPr lang="en-US" sz="1550" dirty="0">
                <a:solidFill>
                  <a:srgbClr val="E0E4E6"/>
                </a:solidFill>
                <a:latin typeface="Barlow" pitchFamily="34" charset="0"/>
                <a:ea typeface="Barlow" pitchFamily="34" charset="-122"/>
                <a:cs typeface="Barlow" pitchFamily="34" charset="-120"/>
              </a:rPr>
              <a:t>Anomalies cluster in specific regions</a:t>
            </a:r>
            <a:endParaRPr lang="en-US" sz="1550" dirty="0"/>
          </a:p>
        </p:txBody>
      </p:sp>
      <p:pic>
        <p:nvPicPr>
          <p:cNvPr id="17" name="Image 6" descr="preencoded.png"/>
          <p:cNvPicPr>
            <a:picLocks noChangeAspect="1"/>
          </p:cNvPicPr>
          <p:nvPr/>
        </p:nvPicPr>
        <p:blipFill>
          <a:blip r:embed="rId9"/>
          <a:stretch>
            <a:fillRect/>
          </a:stretch>
        </p:blipFill>
        <p:spPr>
          <a:xfrm>
            <a:off x="4997410" y="1490543"/>
            <a:ext cx="4635579" cy="4635579"/>
          </a:xfrm>
          <a:prstGeom prst="rect">
            <a:avLst/>
          </a:prstGeom>
        </p:spPr>
      </p:pic>
      <p:pic>
        <p:nvPicPr>
          <p:cNvPr id="18" name="Image 7" descr="preencoded.png"/>
          <p:cNvPicPr>
            <a:picLocks noChangeAspect="1"/>
          </p:cNvPicPr>
          <p:nvPr/>
        </p:nvPicPr>
        <p:blipFill>
          <a:blip r:embed="rId10"/>
          <a:stretch>
            <a:fillRect/>
          </a:stretch>
        </p:blipFill>
        <p:spPr>
          <a:xfrm>
            <a:off x="5839599" y="4555986"/>
            <a:ext cx="296228" cy="370284"/>
          </a:xfrm>
          <a:prstGeom prst="rect">
            <a:avLst/>
          </a:prstGeom>
        </p:spPr>
      </p:pic>
      <p:sp>
        <p:nvSpPr>
          <p:cNvPr id="19" name="Text 9"/>
          <p:cNvSpPr/>
          <p:nvPr/>
        </p:nvSpPr>
        <p:spPr>
          <a:xfrm>
            <a:off x="692944" y="6348770"/>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We employed the Isolation Forest algorithm to identify anomalous transactions based on their isolation characteristics. This unsupervised approach excels at detecting outliers in high-dimensional spaces without requiring labeled training data.</a:t>
            </a:r>
            <a:endParaRPr lang="en-US" sz="1550" dirty="0"/>
          </a:p>
        </p:txBody>
      </p:sp>
      <p:sp>
        <p:nvSpPr>
          <p:cNvPr id="20" name="Text 10"/>
          <p:cNvSpPr/>
          <p:nvPr/>
        </p:nvSpPr>
        <p:spPr>
          <a:xfrm>
            <a:off x="692944" y="7204829"/>
            <a:ext cx="13244513" cy="633413"/>
          </a:xfrm>
          <a:prstGeom prst="rect">
            <a:avLst/>
          </a:prstGeom>
          <a:noFill/>
          <a:ln/>
        </p:spPr>
        <p:txBody>
          <a:bodyPr wrap="square" lIns="0" tIns="0" rIns="0" bIns="0" rtlCol="0" anchor="t"/>
          <a:lstStyle/>
          <a:p>
            <a:pPr marL="0" indent="0" algn="l">
              <a:lnSpc>
                <a:spcPts val="2450"/>
              </a:lnSpc>
              <a:buNone/>
            </a:pPr>
            <a:r>
              <a:rPr lang="en-US" sz="1550" dirty="0">
                <a:solidFill>
                  <a:srgbClr val="E0E4E6"/>
                </a:solidFill>
                <a:latin typeface="Barlow" pitchFamily="34" charset="0"/>
                <a:ea typeface="Barlow" pitchFamily="34" charset="-122"/>
                <a:cs typeface="Barlow" pitchFamily="34" charset="-120"/>
              </a:rPr>
              <a:t>The model identified 126 potential anomalies (approximately 5% of transactions). When visualized, these anomalies clustered predominantly in zones characterized by low account balances paired with unusually high transaction amounts – a well-known fraud indicator in financial transactions.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69501" y="685562"/>
            <a:ext cx="8528804" cy="610791"/>
          </a:xfrm>
          <a:prstGeom prst="rect">
            <a:avLst/>
          </a:prstGeom>
          <a:noFill/>
          <a:ln/>
        </p:spPr>
        <p:txBody>
          <a:bodyPr wrap="none" lIns="0" tIns="0" rIns="0" bIns="0" rtlCol="0" anchor="t"/>
          <a:lstStyle/>
          <a:p>
            <a:pPr marL="0" indent="0" algn="l">
              <a:lnSpc>
                <a:spcPts val="4800"/>
              </a:lnSpc>
              <a:buNone/>
            </a:pPr>
            <a:r>
              <a:rPr lang="en-US" sz="3800" b="1" dirty="0">
                <a:solidFill>
                  <a:srgbClr val="F0FCFF"/>
                </a:solidFill>
                <a:latin typeface="Spline Sans Bold" pitchFamily="34" charset="0"/>
                <a:ea typeface="Spline Sans Bold" pitchFamily="34" charset="-122"/>
                <a:cs typeface="Spline Sans Bold" pitchFamily="34" charset="-120"/>
              </a:rPr>
              <a:t>Predictive Modeling – Random Forest</a:t>
            </a:r>
            <a:endParaRPr lang="en-US" sz="3800" dirty="0"/>
          </a:p>
        </p:txBody>
      </p:sp>
      <p:sp>
        <p:nvSpPr>
          <p:cNvPr id="3" name="Shape 1"/>
          <p:cNvSpPr/>
          <p:nvPr/>
        </p:nvSpPr>
        <p:spPr>
          <a:xfrm>
            <a:off x="769501" y="1736050"/>
            <a:ext cx="2181820" cy="1228725"/>
          </a:xfrm>
          <a:prstGeom prst="roundRect">
            <a:avLst>
              <a:gd name="adj" fmla="val 26843"/>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1705808" y="2157174"/>
            <a:ext cx="309205" cy="386477"/>
          </a:xfrm>
          <a:prstGeom prst="rect">
            <a:avLst/>
          </a:prstGeom>
        </p:spPr>
      </p:pic>
      <p:sp>
        <p:nvSpPr>
          <p:cNvPr id="5" name="Text 2"/>
          <p:cNvSpPr/>
          <p:nvPr/>
        </p:nvSpPr>
        <p:spPr>
          <a:xfrm>
            <a:off x="3171111" y="1955840"/>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Anomaly Labeling</a:t>
            </a:r>
            <a:endParaRPr lang="en-US" sz="1900" dirty="0"/>
          </a:p>
        </p:txBody>
      </p:sp>
      <p:sp>
        <p:nvSpPr>
          <p:cNvPr id="6" name="Text 3"/>
          <p:cNvSpPr/>
          <p:nvPr/>
        </p:nvSpPr>
        <p:spPr>
          <a:xfrm>
            <a:off x="3171111" y="2393156"/>
            <a:ext cx="438840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Used Isolation Forest results as target variable</a:t>
            </a:r>
            <a:endParaRPr lang="en-US" sz="1700" dirty="0"/>
          </a:p>
        </p:txBody>
      </p:sp>
      <p:sp>
        <p:nvSpPr>
          <p:cNvPr id="7" name="Shape 4"/>
          <p:cNvSpPr/>
          <p:nvPr/>
        </p:nvSpPr>
        <p:spPr>
          <a:xfrm>
            <a:off x="3061216" y="2949535"/>
            <a:ext cx="10689788" cy="15240"/>
          </a:xfrm>
          <a:prstGeom prst="roundRect">
            <a:avLst>
              <a:gd name="adj" fmla="val 2164182"/>
            </a:avLst>
          </a:prstGeom>
          <a:solidFill>
            <a:srgbClr val="16FFBB"/>
          </a:solidFill>
          <a:ln/>
        </p:spPr>
        <p:txBody>
          <a:bodyPr/>
          <a:lstStyle/>
          <a:p>
            <a:endParaRPr lang="en-IN"/>
          </a:p>
        </p:txBody>
      </p:sp>
      <p:sp>
        <p:nvSpPr>
          <p:cNvPr id="8" name="Shape 5"/>
          <p:cNvSpPr/>
          <p:nvPr/>
        </p:nvSpPr>
        <p:spPr>
          <a:xfrm>
            <a:off x="769501" y="3074670"/>
            <a:ext cx="4363760" cy="1228725"/>
          </a:xfrm>
          <a:prstGeom prst="roundRect">
            <a:avLst>
              <a:gd name="adj" fmla="val 26843"/>
            </a:avLst>
          </a:prstGeom>
          <a:solidFill>
            <a:srgbClr val="0A081B"/>
          </a:solidFill>
          <a:ln w="22860">
            <a:solidFill>
              <a:srgbClr val="29DDDA"/>
            </a:solidFill>
            <a:prstDash val="solid"/>
          </a:ln>
        </p:spPr>
        <p:txBody>
          <a:bodyPr/>
          <a:lstStyle/>
          <a:p>
            <a:endParaRPr lang="en-IN"/>
          </a:p>
        </p:txBody>
      </p:sp>
      <p:pic>
        <p:nvPicPr>
          <p:cNvPr id="9" name="Image 1" descr="preencoded.png"/>
          <p:cNvPicPr>
            <a:picLocks noChangeAspect="1"/>
          </p:cNvPicPr>
          <p:nvPr/>
        </p:nvPicPr>
        <p:blipFill>
          <a:blip r:embed="rId4"/>
          <a:stretch>
            <a:fillRect/>
          </a:stretch>
        </p:blipFill>
        <p:spPr>
          <a:xfrm>
            <a:off x="2796778" y="3495794"/>
            <a:ext cx="309205" cy="386477"/>
          </a:xfrm>
          <a:prstGeom prst="rect">
            <a:avLst/>
          </a:prstGeom>
        </p:spPr>
      </p:pic>
      <p:sp>
        <p:nvSpPr>
          <p:cNvPr id="10" name="Text 6"/>
          <p:cNvSpPr/>
          <p:nvPr/>
        </p:nvSpPr>
        <p:spPr>
          <a:xfrm>
            <a:off x="5353050" y="329445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Training</a:t>
            </a:r>
            <a:endParaRPr lang="en-US" sz="1900" dirty="0"/>
          </a:p>
        </p:txBody>
      </p:sp>
      <p:sp>
        <p:nvSpPr>
          <p:cNvPr id="11" name="Text 7"/>
          <p:cNvSpPr/>
          <p:nvPr/>
        </p:nvSpPr>
        <p:spPr>
          <a:xfrm>
            <a:off x="5353050" y="3731776"/>
            <a:ext cx="4295180"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Random Forest with default hyperparameters</a:t>
            </a:r>
            <a:endParaRPr lang="en-US" sz="1700" dirty="0"/>
          </a:p>
        </p:txBody>
      </p:sp>
      <p:sp>
        <p:nvSpPr>
          <p:cNvPr id="12" name="Shape 8"/>
          <p:cNvSpPr/>
          <p:nvPr/>
        </p:nvSpPr>
        <p:spPr>
          <a:xfrm>
            <a:off x="5243155" y="4288155"/>
            <a:ext cx="8507849" cy="15240"/>
          </a:xfrm>
          <a:prstGeom prst="roundRect">
            <a:avLst>
              <a:gd name="adj" fmla="val 2164182"/>
            </a:avLst>
          </a:prstGeom>
          <a:solidFill>
            <a:srgbClr val="29DDDA"/>
          </a:solidFill>
          <a:ln/>
        </p:spPr>
        <p:txBody>
          <a:bodyPr/>
          <a:lstStyle/>
          <a:p>
            <a:endParaRPr lang="en-IN"/>
          </a:p>
        </p:txBody>
      </p:sp>
      <p:sp>
        <p:nvSpPr>
          <p:cNvPr id="13" name="Shape 9"/>
          <p:cNvSpPr/>
          <p:nvPr/>
        </p:nvSpPr>
        <p:spPr>
          <a:xfrm>
            <a:off x="769501" y="4413290"/>
            <a:ext cx="6545699" cy="1228725"/>
          </a:xfrm>
          <a:prstGeom prst="roundRect">
            <a:avLst>
              <a:gd name="adj" fmla="val 26843"/>
            </a:avLst>
          </a:prstGeom>
          <a:solidFill>
            <a:srgbClr val="0A081B"/>
          </a:solidFill>
          <a:ln w="22860">
            <a:solidFill>
              <a:srgbClr val="37A7E7"/>
            </a:solidFill>
            <a:prstDash val="solid"/>
          </a:ln>
        </p:spPr>
        <p:txBody>
          <a:bodyPr/>
          <a:lstStyle/>
          <a:p>
            <a:endParaRPr lang="en-IN"/>
          </a:p>
        </p:txBody>
      </p:sp>
      <p:pic>
        <p:nvPicPr>
          <p:cNvPr id="14" name="Image 2" descr="preencoded.png"/>
          <p:cNvPicPr>
            <a:picLocks noChangeAspect="1"/>
          </p:cNvPicPr>
          <p:nvPr/>
        </p:nvPicPr>
        <p:blipFill>
          <a:blip r:embed="rId5"/>
          <a:stretch>
            <a:fillRect/>
          </a:stretch>
        </p:blipFill>
        <p:spPr>
          <a:xfrm>
            <a:off x="3887748" y="4834414"/>
            <a:ext cx="309205" cy="386477"/>
          </a:xfrm>
          <a:prstGeom prst="rect">
            <a:avLst/>
          </a:prstGeom>
        </p:spPr>
      </p:pic>
      <p:sp>
        <p:nvSpPr>
          <p:cNvPr id="15" name="Text 10"/>
          <p:cNvSpPr/>
          <p:nvPr/>
        </p:nvSpPr>
        <p:spPr>
          <a:xfrm>
            <a:off x="7534989" y="4633079"/>
            <a:ext cx="2443043" cy="305395"/>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Model Evaluation</a:t>
            </a:r>
            <a:endParaRPr lang="en-US" sz="1900" dirty="0"/>
          </a:p>
        </p:txBody>
      </p:sp>
      <p:sp>
        <p:nvSpPr>
          <p:cNvPr id="16" name="Text 11"/>
          <p:cNvSpPr/>
          <p:nvPr/>
        </p:nvSpPr>
        <p:spPr>
          <a:xfrm>
            <a:off x="7534989" y="5070396"/>
            <a:ext cx="4479846" cy="351830"/>
          </a:xfrm>
          <a:prstGeom prst="rect">
            <a:avLst/>
          </a:prstGeom>
          <a:noFill/>
          <a:ln/>
        </p:spPr>
        <p:txBody>
          <a:bodyPr wrap="non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97% accuracy with 0.81 precision on fraud class</a:t>
            </a:r>
            <a:endParaRPr lang="en-US" sz="1700" dirty="0"/>
          </a:p>
        </p:txBody>
      </p:sp>
      <p:sp>
        <p:nvSpPr>
          <p:cNvPr id="17" name="Text 12"/>
          <p:cNvSpPr/>
          <p:nvPr/>
        </p:nvSpPr>
        <p:spPr>
          <a:xfrm>
            <a:off x="769501" y="5889308"/>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Using the anomaly labels generated by the Isolation Forest as our target variable, we trained a Random Forest classifier to predict fraudulent transactions. The dataset was split into 80% training and 20% testing sets, maintaining the same class distribution.</a:t>
            </a:r>
            <a:endParaRPr lang="en-US" sz="1700" dirty="0"/>
          </a:p>
        </p:txBody>
      </p:sp>
      <p:sp>
        <p:nvSpPr>
          <p:cNvPr id="18" name="Text 13"/>
          <p:cNvSpPr/>
          <p:nvPr/>
        </p:nvSpPr>
        <p:spPr>
          <a:xfrm>
            <a:off x="769501" y="6840260"/>
            <a:ext cx="13091398" cy="703659"/>
          </a:xfrm>
          <a:prstGeom prst="rect">
            <a:avLst/>
          </a:prstGeom>
          <a:noFill/>
          <a:ln/>
        </p:spPr>
        <p:txBody>
          <a:bodyPr wrap="square" lIns="0" tIns="0" rIns="0" bIns="0" rtlCol="0" anchor="t"/>
          <a:lstStyle/>
          <a:p>
            <a:pPr marL="0" indent="0" algn="l">
              <a:lnSpc>
                <a:spcPts val="2750"/>
              </a:lnSpc>
              <a:buNone/>
            </a:pPr>
            <a:r>
              <a:rPr lang="en-US" sz="1700" dirty="0">
                <a:solidFill>
                  <a:srgbClr val="E0E4E6"/>
                </a:solidFill>
                <a:latin typeface="Barlow" pitchFamily="34" charset="0"/>
                <a:ea typeface="Barlow" pitchFamily="34" charset="-122"/>
                <a:cs typeface="Barlow" pitchFamily="34" charset="-120"/>
              </a:rPr>
              <a:t>The Random Forest achieved 97% overall accuracy, with 0.81 precision and 0.52 recall on the fraud class, resulting in an F1-score of 0.63. While the overall accuracy is excellent, the recall indicates room for improvement in capturing all fraudulent transactions.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74583" y="372904"/>
            <a:ext cx="3013353" cy="376595"/>
          </a:xfrm>
          <a:prstGeom prst="rect">
            <a:avLst/>
          </a:prstGeom>
          <a:noFill/>
          <a:ln/>
        </p:spPr>
        <p:txBody>
          <a:bodyPr wrap="none" lIns="0" tIns="0" rIns="0" bIns="0" rtlCol="0" anchor="t"/>
          <a:lstStyle/>
          <a:p>
            <a:pPr marL="0" indent="0" algn="l">
              <a:lnSpc>
                <a:spcPts val="2950"/>
              </a:lnSpc>
              <a:buNone/>
            </a:pPr>
            <a:r>
              <a:rPr lang="en-US" sz="2350" b="1" dirty="0">
                <a:solidFill>
                  <a:srgbClr val="F0FCFF"/>
                </a:solidFill>
                <a:latin typeface="Spline Sans Bold" pitchFamily="34" charset="0"/>
                <a:ea typeface="Spline Sans Bold" pitchFamily="34" charset="-122"/>
                <a:cs typeface="Spline Sans Bold" pitchFamily="34" charset="-120"/>
              </a:rPr>
              <a:t>Confusion Matrix</a:t>
            </a:r>
            <a:endParaRPr lang="en-US" sz="2350" dirty="0"/>
          </a:p>
        </p:txBody>
      </p:sp>
      <p:pic>
        <p:nvPicPr>
          <p:cNvPr id="3" name="Image 0" descr="preencoded.png"/>
          <p:cNvPicPr>
            <a:picLocks noChangeAspect="1"/>
          </p:cNvPicPr>
          <p:nvPr/>
        </p:nvPicPr>
        <p:blipFill>
          <a:blip r:embed="rId3"/>
          <a:stretch>
            <a:fillRect/>
          </a:stretch>
        </p:blipFill>
        <p:spPr>
          <a:xfrm>
            <a:off x="474583" y="1020604"/>
            <a:ext cx="13681234" cy="7495461"/>
          </a:xfrm>
          <a:prstGeom prst="rect">
            <a:avLst/>
          </a:prstGeom>
        </p:spPr>
      </p:pic>
      <p:sp>
        <p:nvSpPr>
          <p:cNvPr id="4" name="Shape 1"/>
          <p:cNvSpPr/>
          <p:nvPr/>
        </p:nvSpPr>
        <p:spPr>
          <a:xfrm>
            <a:off x="2705814" y="8546544"/>
            <a:ext cx="135493" cy="135493"/>
          </a:xfrm>
          <a:prstGeom prst="roundRect">
            <a:avLst>
              <a:gd name="adj" fmla="val 13497"/>
            </a:avLst>
          </a:prstGeom>
          <a:solidFill>
            <a:srgbClr val="004D36"/>
          </a:solidFill>
          <a:ln/>
        </p:spPr>
        <p:txBody>
          <a:bodyPr/>
          <a:lstStyle/>
          <a:p>
            <a:endParaRPr lang="en-IN"/>
          </a:p>
        </p:txBody>
      </p:sp>
      <p:sp>
        <p:nvSpPr>
          <p:cNvPr id="5" name="Text 2"/>
          <p:cNvSpPr/>
          <p:nvPr/>
        </p:nvSpPr>
        <p:spPr>
          <a:xfrm>
            <a:off x="2902268" y="8546544"/>
            <a:ext cx="878324"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True Negatives</a:t>
            </a:r>
            <a:endParaRPr lang="en-US" sz="1050" dirty="0"/>
          </a:p>
        </p:txBody>
      </p:sp>
      <p:sp>
        <p:nvSpPr>
          <p:cNvPr id="6" name="Shape 3"/>
          <p:cNvSpPr/>
          <p:nvPr/>
        </p:nvSpPr>
        <p:spPr>
          <a:xfrm>
            <a:off x="5075396" y="8546544"/>
            <a:ext cx="135493" cy="135493"/>
          </a:xfrm>
          <a:prstGeom prst="roundRect">
            <a:avLst>
              <a:gd name="adj" fmla="val 13497"/>
            </a:avLst>
          </a:prstGeom>
          <a:solidFill>
            <a:srgbClr val="00B37E"/>
          </a:solidFill>
          <a:ln/>
        </p:spPr>
        <p:txBody>
          <a:bodyPr/>
          <a:lstStyle/>
          <a:p>
            <a:endParaRPr lang="en-IN"/>
          </a:p>
        </p:txBody>
      </p:sp>
      <p:sp>
        <p:nvSpPr>
          <p:cNvPr id="7" name="Text 4"/>
          <p:cNvSpPr/>
          <p:nvPr/>
        </p:nvSpPr>
        <p:spPr>
          <a:xfrm>
            <a:off x="5271849" y="8546544"/>
            <a:ext cx="824627"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True Positives</a:t>
            </a:r>
            <a:endParaRPr lang="en-US" sz="1050" dirty="0"/>
          </a:p>
        </p:txBody>
      </p:sp>
      <p:sp>
        <p:nvSpPr>
          <p:cNvPr id="8" name="Shape 5"/>
          <p:cNvSpPr/>
          <p:nvPr/>
        </p:nvSpPr>
        <p:spPr>
          <a:xfrm>
            <a:off x="8483798" y="8546544"/>
            <a:ext cx="135493" cy="135493"/>
          </a:xfrm>
          <a:prstGeom prst="roundRect">
            <a:avLst>
              <a:gd name="adj" fmla="val 13497"/>
            </a:avLst>
          </a:prstGeom>
          <a:solidFill>
            <a:srgbClr val="1AFFBC"/>
          </a:solidFill>
          <a:ln/>
        </p:spPr>
        <p:txBody>
          <a:bodyPr/>
          <a:lstStyle/>
          <a:p>
            <a:endParaRPr lang="en-IN"/>
          </a:p>
        </p:txBody>
      </p:sp>
      <p:sp>
        <p:nvSpPr>
          <p:cNvPr id="9" name="Text 6"/>
          <p:cNvSpPr/>
          <p:nvPr/>
        </p:nvSpPr>
        <p:spPr>
          <a:xfrm>
            <a:off x="8680252" y="8546544"/>
            <a:ext cx="924639"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False Negatives</a:t>
            </a:r>
            <a:endParaRPr lang="en-US" sz="1050" dirty="0"/>
          </a:p>
        </p:txBody>
      </p:sp>
      <p:sp>
        <p:nvSpPr>
          <p:cNvPr id="10" name="Shape 7"/>
          <p:cNvSpPr/>
          <p:nvPr/>
        </p:nvSpPr>
        <p:spPr>
          <a:xfrm>
            <a:off x="10849808" y="8546544"/>
            <a:ext cx="135493" cy="135493"/>
          </a:xfrm>
          <a:prstGeom prst="roundRect">
            <a:avLst>
              <a:gd name="adj" fmla="val 13497"/>
            </a:avLst>
          </a:prstGeom>
          <a:solidFill>
            <a:srgbClr val="80FFDA"/>
          </a:solidFill>
          <a:ln/>
        </p:spPr>
        <p:txBody>
          <a:bodyPr/>
          <a:lstStyle/>
          <a:p>
            <a:endParaRPr lang="en-IN"/>
          </a:p>
        </p:txBody>
      </p:sp>
      <p:sp>
        <p:nvSpPr>
          <p:cNvPr id="11" name="Text 8"/>
          <p:cNvSpPr/>
          <p:nvPr/>
        </p:nvSpPr>
        <p:spPr>
          <a:xfrm>
            <a:off x="11046262" y="8546544"/>
            <a:ext cx="871061" cy="135493"/>
          </a:xfrm>
          <a:prstGeom prst="rect">
            <a:avLst/>
          </a:prstGeom>
          <a:noFill/>
          <a:ln/>
        </p:spPr>
        <p:txBody>
          <a:bodyPr wrap="none" lIns="0" tIns="0" rIns="0" bIns="0" rtlCol="0" anchor="t"/>
          <a:lstStyle/>
          <a:p>
            <a:pPr marL="0" indent="0" algn="l">
              <a:lnSpc>
                <a:spcPts val="1050"/>
              </a:lnSpc>
              <a:buNone/>
            </a:pPr>
            <a:r>
              <a:rPr lang="en-US" sz="1050" dirty="0">
                <a:solidFill>
                  <a:srgbClr val="E0E4E6"/>
                </a:solidFill>
                <a:latin typeface="Barlow" pitchFamily="34" charset="0"/>
                <a:ea typeface="Barlow" pitchFamily="34" charset="-122"/>
                <a:cs typeface="Barlow" pitchFamily="34" charset="-120"/>
              </a:rPr>
              <a:t>False Positives</a:t>
            </a:r>
            <a:endParaRPr lang="en-US" sz="1050" dirty="0"/>
          </a:p>
        </p:txBody>
      </p:sp>
      <p:sp>
        <p:nvSpPr>
          <p:cNvPr id="12" name="Text 9"/>
          <p:cNvSpPr/>
          <p:nvPr/>
        </p:nvSpPr>
        <p:spPr>
          <a:xfrm>
            <a:off x="474583" y="8834557"/>
            <a:ext cx="13681234" cy="433864"/>
          </a:xfrm>
          <a:prstGeom prst="rect">
            <a:avLst/>
          </a:prstGeom>
          <a:noFill/>
          <a:ln/>
        </p:spPr>
        <p:txBody>
          <a:bodyPr wrap="square" lIns="0" tIns="0" rIns="0" bIns="0" rtlCol="0" anchor="t"/>
          <a:lstStyle/>
          <a:p>
            <a:pPr marL="0" indent="0" algn="l">
              <a:lnSpc>
                <a:spcPts val="1700"/>
              </a:lnSpc>
              <a:buNone/>
            </a:pPr>
            <a:r>
              <a:rPr lang="en-US" sz="1050" dirty="0">
                <a:solidFill>
                  <a:srgbClr val="E0E4E6"/>
                </a:solidFill>
                <a:latin typeface="Barlow" pitchFamily="34" charset="0"/>
                <a:ea typeface="Barlow" pitchFamily="34" charset="-122"/>
                <a:cs typeface="Barlow" pitchFamily="34" charset="-120"/>
              </a:rPr>
              <a:t>The confusion matrix provides deeper insight into our model's performance. Out of 506 test transactions, the model correctly identified 478 legitimate transactions (true negatives) and 13 fraudulent ones (true positives). However, it missed 12 fraudulent transactions (false negatives) and incorrectly flagged 3 legitimate transactions as fraudulent (false positives).</a:t>
            </a:r>
            <a:endParaRPr lang="en-US" sz="1050" dirty="0"/>
          </a:p>
        </p:txBody>
      </p:sp>
      <p:sp>
        <p:nvSpPr>
          <p:cNvPr id="13" name="Text 10"/>
          <p:cNvSpPr/>
          <p:nvPr/>
        </p:nvSpPr>
        <p:spPr>
          <a:xfrm>
            <a:off x="474583" y="9420939"/>
            <a:ext cx="13681234" cy="433864"/>
          </a:xfrm>
          <a:prstGeom prst="rect">
            <a:avLst/>
          </a:prstGeom>
          <a:noFill/>
          <a:ln/>
        </p:spPr>
        <p:txBody>
          <a:bodyPr wrap="square" lIns="0" tIns="0" rIns="0" bIns="0" rtlCol="0" anchor="t"/>
          <a:lstStyle/>
          <a:p>
            <a:pPr marL="0" indent="0" algn="l">
              <a:lnSpc>
                <a:spcPts val="1700"/>
              </a:lnSpc>
              <a:buNone/>
            </a:pPr>
            <a:r>
              <a:rPr lang="en-US" sz="1050" dirty="0">
                <a:solidFill>
                  <a:srgbClr val="E0E4E6"/>
                </a:solidFill>
                <a:latin typeface="Barlow" pitchFamily="34" charset="0"/>
                <a:ea typeface="Barlow" pitchFamily="34" charset="-122"/>
                <a:cs typeface="Barlow" pitchFamily="34" charset="-120"/>
              </a:rPr>
              <a:t>While the overall precision is high, the relatively higher number of false negatives indicates that our model prioritizes minimizing false alerts at the expense of missing some fraudulent transactions. This tradeoff may need adjustment depending on the specific business requirements and risk tolerance of the implementing institution.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78073" y="611862"/>
            <a:ext cx="4940618" cy="617577"/>
          </a:xfrm>
          <a:prstGeom prst="rect">
            <a:avLst/>
          </a:prstGeom>
          <a:noFill/>
          <a:ln/>
        </p:spPr>
        <p:txBody>
          <a:bodyPr wrap="none" lIns="0" tIns="0" rIns="0" bIns="0" rtlCol="0" anchor="t"/>
          <a:lstStyle/>
          <a:p>
            <a:pPr marL="0" indent="0" algn="l">
              <a:lnSpc>
                <a:spcPts val="4850"/>
              </a:lnSpc>
              <a:buNone/>
            </a:pPr>
            <a:r>
              <a:rPr lang="en-US" sz="3850" b="1" dirty="0">
                <a:solidFill>
                  <a:srgbClr val="F0FCFF"/>
                </a:solidFill>
                <a:latin typeface="Spline Sans Bold" pitchFamily="34" charset="0"/>
                <a:ea typeface="Spline Sans Bold" pitchFamily="34" charset="-122"/>
                <a:cs typeface="Spline Sans Bold" pitchFamily="34" charset="-120"/>
              </a:rPr>
              <a:t>Model Improvement</a:t>
            </a:r>
            <a:endParaRPr lang="en-US" sz="3850" dirty="0"/>
          </a:p>
        </p:txBody>
      </p:sp>
      <p:pic>
        <p:nvPicPr>
          <p:cNvPr id="3" name="Image 0" descr="preencoded.png"/>
          <p:cNvPicPr>
            <a:picLocks noChangeAspect="1"/>
          </p:cNvPicPr>
          <p:nvPr/>
        </p:nvPicPr>
        <p:blipFill>
          <a:blip r:embed="rId3"/>
          <a:stretch>
            <a:fillRect/>
          </a:stretch>
        </p:blipFill>
        <p:spPr>
          <a:xfrm>
            <a:off x="778073" y="1674019"/>
            <a:ext cx="3268504" cy="889278"/>
          </a:xfrm>
          <a:prstGeom prst="rect">
            <a:avLst/>
          </a:prstGeom>
        </p:spPr>
      </p:pic>
      <p:sp>
        <p:nvSpPr>
          <p:cNvPr id="4" name="Text 1"/>
          <p:cNvSpPr/>
          <p:nvPr/>
        </p:nvSpPr>
        <p:spPr>
          <a:xfrm>
            <a:off x="1000363"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Parameter Selection</a:t>
            </a:r>
            <a:endParaRPr lang="en-US" sz="1900" dirty="0"/>
          </a:p>
        </p:txBody>
      </p:sp>
      <p:sp>
        <p:nvSpPr>
          <p:cNvPr id="5" name="Text 2"/>
          <p:cNvSpPr/>
          <p:nvPr/>
        </p:nvSpPr>
        <p:spPr>
          <a:xfrm>
            <a:off x="1000363" y="3338870"/>
            <a:ext cx="2823924" cy="142255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Identified key hyperparameters: n_estimators, max_depth, max_features</a:t>
            </a:r>
            <a:endParaRPr lang="en-US" sz="1750" dirty="0"/>
          </a:p>
        </p:txBody>
      </p:sp>
      <p:pic>
        <p:nvPicPr>
          <p:cNvPr id="6" name="Image 1" descr="preencoded.png"/>
          <p:cNvPicPr>
            <a:picLocks noChangeAspect="1"/>
          </p:cNvPicPr>
          <p:nvPr/>
        </p:nvPicPr>
        <p:blipFill>
          <a:blip r:embed="rId4"/>
          <a:stretch>
            <a:fillRect/>
          </a:stretch>
        </p:blipFill>
        <p:spPr>
          <a:xfrm>
            <a:off x="4046577" y="1674019"/>
            <a:ext cx="3268623" cy="889278"/>
          </a:xfrm>
          <a:prstGeom prst="rect">
            <a:avLst/>
          </a:prstGeom>
        </p:spPr>
      </p:pic>
      <p:sp>
        <p:nvSpPr>
          <p:cNvPr id="7" name="Text 3"/>
          <p:cNvSpPr/>
          <p:nvPr/>
        </p:nvSpPr>
        <p:spPr>
          <a:xfrm>
            <a:off x="4268867" y="2896791"/>
            <a:ext cx="2470309"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Grid Search</a:t>
            </a:r>
            <a:endParaRPr lang="en-US" sz="1900" dirty="0"/>
          </a:p>
        </p:txBody>
      </p:sp>
      <p:sp>
        <p:nvSpPr>
          <p:cNvPr id="8" name="Text 4"/>
          <p:cNvSpPr/>
          <p:nvPr/>
        </p:nvSpPr>
        <p:spPr>
          <a:xfrm>
            <a:off x="4268867"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Performed GridSearchCV with 5-fold cross-validation</a:t>
            </a:r>
            <a:endParaRPr lang="en-US" sz="1750" dirty="0"/>
          </a:p>
        </p:txBody>
      </p:sp>
      <p:pic>
        <p:nvPicPr>
          <p:cNvPr id="9" name="Image 2" descr="preencoded.png"/>
          <p:cNvPicPr>
            <a:picLocks noChangeAspect="1"/>
          </p:cNvPicPr>
          <p:nvPr/>
        </p:nvPicPr>
        <p:blipFill>
          <a:blip r:embed="rId5"/>
          <a:stretch>
            <a:fillRect/>
          </a:stretch>
        </p:blipFill>
        <p:spPr>
          <a:xfrm>
            <a:off x="7315200" y="1674019"/>
            <a:ext cx="3268504" cy="889278"/>
          </a:xfrm>
          <a:prstGeom prst="rect">
            <a:avLst/>
          </a:prstGeom>
        </p:spPr>
      </p:pic>
      <p:sp>
        <p:nvSpPr>
          <p:cNvPr id="10" name="Text 5"/>
          <p:cNvSpPr/>
          <p:nvPr/>
        </p:nvSpPr>
        <p:spPr>
          <a:xfrm>
            <a:off x="7537490" y="2896791"/>
            <a:ext cx="2596396"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Optimal Configuration</a:t>
            </a:r>
            <a:endParaRPr lang="en-US" sz="1900" dirty="0"/>
          </a:p>
        </p:txBody>
      </p:sp>
      <p:sp>
        <p:nvSpPr>
          <p:cNvPr id="11" name="Text 6"/>
          <p:cNvSpPr/>
          <p:nvPr/>
        </p:nvSpPr>
        <p:spPr>
          <a:xfrm>
            <a:off x="7537490" y="3338870"/>
            <a:ext cx="2823924"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n_estimators: 200, max_depth: 10, max_features: 'sqrt'</a:t>
            </a:r>
            <a:endParaRPr lang="en-US" sz="1750" dirty="0"/>
          </a:p>
        </p:txBody>
      </p:sp>
      <p:pic>
        <p:nvPicPr>
          <p:cNvPr id="12" name="Image 3" descr="preencoded.png"/>
          <p:cNvPicPr>
            <a:picLocks noChangeAspect="1"/>
          </p:cNvPicPr>
          <p:nvPr/>
        </p:nvPicPr>
        <p:blipFill>
          <a:blip r:embed="rId6"/>
          <a:stretch>
            <a:fillRect/>
          </a:stretch>
        </p:blipFill>
        <p:spPr>
          <a:xfrm>
            <a:off x="10583704" y="1674019"/>
            <a:ext cx="3268623" cy="889278"/>
          </a:xfrm>
          <a:prstGeom prst="rect">
            <a:avLst/>
          </a:prstGeom>
        </p:spPr>
      </p:pic>
      <p:sp>
        <p:nvSpPr>
          <p:cNvPr id="13" name="Text 7"/>
          <p:cNvSpPr/>
          <p:nvPr/>
        </p:nvSpPr>
        <p:spPr>
          <a:xfrm>
            <a:off x="10805993" y="2896791"/>
            <a:ext cx="2793563" cy="308729"/>
          </a:xfrm>
          <a:prstGeom prst="rect">
            <a:avLst/>
          </a:prstGeom>
          <a:noFill/>
          <a:ln/>
        </p:spPr>
        <p:txBody>
          <a:bodyPr wrap="none" lIns="0" tIns="0" rIns="0" bIns="0" rtlCol="0" anchor="t"/>
          <a:lstStyle/>
          <a:p>
            <a:pPr marL="0" indent="0" algn="l">
              <a:lnSpc>
                <a:spcPts val="2400"/>
              </a:lnSpc>
              <a:buNone/>
            </a:pPr>
            <a:r>
              <a:rPr lang="en-US" sz="1900" b="1" dirty="0">
                <a:solidFill>
                  <a:srgbClr val="E0E4E6"/>
                </a:solidFill>
                <a:latin typeface="Spline Sans Bold" pitchFamily="34" charset="0"/>
                <a:ea typeface="Spline Sans Bold" pitchFamily="34" charset="-122"/>
                <a:cs typeface="Spline Sans Bold" pitchFamily="34" charset="-120"/>
              </a:rPr>
              <a:t>Performance Evaluation</a:t>
            </a:r>
            <a:endParaRPr lang="en-US" sz="1900" dirty="0"/>
          </a:p>
        </p:txBody>
      </p:sp>
      <p:sp>
        <p:nvSpPr>
          <p:cNvPr id="14" name="Text 8"/>
          <p:cNvSpPr/>
          <p:nvPr/>
        </p:nvSpPr>
        <p:spPr>
          <a:xfrm>
            <a:off x="10805993" y="3338870"/>
            <a:ext cx="2824043" cy="71127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Achieved same accuracy with improved robustness</a:t>
            </a:r>
            <a:endParaRPr lang="en-US" sz="1750" dirty="0"/>
          </a:p>
        </p:txBody>
      </p:sp>
      <p:sp>
        <p:nvSpPr>
          <p:cNvPr id="15" name="Text 9"/>
          <p:cNvSpPr/>
          <p:nvPr/>
        </p:nvSpPr>
        <p:spPr>
          <a:xfrm>
            <a:off x="778073" y="5233749"/>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To enhance model performance, we implemented a systematic hyperparameter tuning process using GridSearchCV with 5-fold cross-validation. This approach allowed us to find the optimal combination of parameters while avoiding overfitting through validation across multiple data subsets.</a:t>
            </a:r>
            <a:endParaRPr lang="en-US" sz="1750" dirty="0"/>
          </a:p>
        </p:txBody>
      </p:sp>
      <p:sp>
        <p:nvSpPr>
          <p:cNvPr id="16" name="Text 10"/>
          <p:cNvSpPr/>
          <p:nvPr/>
        </p:nvSpPr>
        <p:spPr>
          <a:xfrm>
            <a:off x="778073" y="6550700"/>
            <a:ext cx="13074253" cy="1066919"/>
          </a:xfrm>
          <a:prstGeom prst="rect">
            <a:avLst/>
          </a:prstGeom>
          <a:noFill/>
          <a:ln/>
        </p:spPr>
        <p:txBody>
          <a:bodyPr wrap="square" lIns="0" tIns="0" rIns="0" bIns="0" rtlCol="0" anchor="t"/>
          <a:lstStyle/>
          <a:p>
            <a:pPr marL="0" indent="0" algn="l">
              <a:lnSpc>
                <a:spcPts val="2800"/>
              </a:lnSpc>
              <a:buNone/>
            </a:pPr>
            <a:r>
              <a:rPr lang="en-US" sz="1750" dirty="0">
                <a:solidFill>
                  <a:srgbClr val="E0E4E6"/>
                </a:solidFill>
                <a:latin typeface="Barlow" pitchFamily="34" charset="0"/>
                <a:ea typeface="Barlow" pitchFamily="34" charset="-122"/>
                <a:cs typeface="Barlow" pitchFamily="34" charset="-120"/>
              </a:rPr>
              <a:t>The tuned model maintained the same overall accuracy of 97%, but exhibited better robustness with less variance across different test sets. While the improvement in raw performance metrics was modest, the enhanced model showed more consistent behavior across varying transaction patterns.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04505" y="1001197"/>
            <a:ext cx="7031355" cy="638413"/>
          </a:xfrm>
          <a:prstGeom prst="rect">
            <a:avLst/>
          </a:prstGeom>
          <a:noFill/>
          <a:ln/>
        </p:spPr>
        <p:txBody>
          <a:bodyPr wrap="none" lIns="0" tIns="0" rIns="0" bIns="0" rtlCol="0" anchor="t"/>
          <a:lstStyle/>
          <a:p>
            <a:pPr marL="0" indent="0" algn="l">
              <a:lnSpc>
                <a:spcPts val="5000"/>
              </a:lnSpc>
              <a:buNone/>
            </a:pPr>
            <a:r>
              <a:rPr lang="en-US" sz="4000" b="1" dirty="0">
                <a:solidFill>
                  <a:srgbClr val="F0FCFF"/>
                </a:solidFill>
                <a:latin typeface="Spline Sans Bold" pitchFamily="34" charset="0"/>
                <a:ea typeface="Spline Sans Bold" pitchFamily="34" charset="-122"/>
                <a:cs typeface="Spline Sans Bold" pitchFamily="34" charset="-120"/>
              </a:rPr>
              <a:t>Insights &amp; Recommendations</a:t>
            </a:r>
            <a:endParaRPr lang="en-US" sz="4000" dirty="0"/>
          </a:p>
        </p:txBody>
      </p:sp>
      <p:sp>
        <p:nvSpPr>
          <p:cNvPr id="3" name="Shape 1"/>
          <p:cNvSpPr/>
          <p:nvPr/>
        </p:nvSpPr>
        <p:spPr>
          <a:xfrm>
            <a:off x="804505" y="2357795"/>
            <a:ext cx="517088" cy="517088"/>
          </a:xfrm>
          <a:prstGeom prst="roundRect">
            <a:avLst>
              <a:gd name="adj" fmla="val 66680"/>
            </a:avLst>
          </a:prstGeom>
          <a:solidFill>
            <a:srgbClr val="0A081B"/>
          </a:solidFill>
          <a:ln w="22860">
            <a:solidFill>
              <a:srgbClr val="16FFBB"/>
            </a:solidFill>
            <a:prstDash val="solid"/>
          </a:ln>
        </p:spPr>
        <p:txBody>
          <a:bodyPr/>
          <a:lstStyle/>
          <a:p>
            <a:endParaRPr lang="en-IN"/>
          </a:p>
        </p:txBody>
      </p:sp>
      <p:pic>
        <p:nvPicPr>
          <p:cNvPr id="4" name="Image 0" descr="preencoded.png"/>
          <p:cNvPicPr>
            <a:picLocks noChangeAspect="1"/>
          </p:cNvPicPr>
          <p:nvPr/>
        </p:nvPicPr>
        <p:blipFill>
          <a:blip r:embed="rId3"/>
          <a:stretch>
            <a:fillRect/>
          </a:stretch>
        </p:blipFill>
        <p:spPr>
          <a:xfrm>
            <a:off x="909757" y="2424767"/>
            <a:ext cx="306467" cy="383024"/>
          </a:xfrm>
          <a:prstGeom prst="rect">
            <a:avLst/>
          </a:prstGeom>
        </p:spPr>
      </p:pic>
      <p:sp>
        <p:nvSpPr>
          <p:cNvPr id="5" name="Text 2"/>
          <p:cNvSpPr/>
          <p:nvPr/>
        </p:nvSpPr>
        <p:spPr>
          <a:xfrm>
            <a:off x="1551384" y="2357795"/>
            <a:ext cx="2554010"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Key Fraud Indicators</a:t>
            </a:r>
            <a:endParaRPr lang="en-US" sz="2000" dirty="0"/>
          </a:p>
        </p:txBody>
      </p:sp>
      <p:sp>
        <p:nvSpPr>
          <p:cNvPr id="6" name="Text 3"/>
          <p:cNvSpPr/>
          <p:nvPr/>
        </p:nvSpPr>
        <p:spPr>
          <a:xfrm>
            <a:off x="1551384" y="2814876"/>
            <a:ext cx="3440430" cy="4413409"/>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Transactions with high amounts relative to low account balances emerged as the strongest fraud signal. Unusually short time gaps between consecutive transactions, especially from different geographic locations, strongly indicated suspicious activity. Multiple failed login attempts prior to successful transactions also correlated strongly with fraudulent behavior.</a:t>
            </a:r>
            <a:endParaRPr lang="en-US" sz="1800" dirty="0"/>
          </a:p>
        </p:txBody>
      </p:sp>
      <p:sp>
        <p:nvSpPr>
          <p:cNvPr id="7" name="Shape 4"/>
          <p:cNvSpPr/>
          <p:nvPr/>
        </p:nvSpPr>
        <p:spPr>
          <a:xfrm>
            <a:off x="5221605" y="2357795"/>
            <a:ext cx="517088" cy="517088"/>
          </a:xfrm>
          <a:prstGeom prst="roundRect">
            <a:avLst>
              <a:gd name="adj" fmla="val 66680"/>
            </a:avLst>
          </a:prstGeom>
          <a:solidFill>
            <a:srgbClr val="0A081B"/>
          </a:solidFill>
          <a:ln w="22860">
            <a:solidFill>
              <a:srgbClr val="29DDDA"/>
            </a:solidFill>
            <a:prstDash val="solid"/>
          </a:ln>
        </p:spPr>
        <p:txBody>
          <a:bodyPr/>
          <a:lstStyle/>
          <a:p>
            <a:endParaRPr lang="en-IN"/>
          </a:p>
        </p:txBody>
      </p:sp>
      <p:pic>
        <p:nvPicPr>
          <p:cNvPr id="8" name="Image 1" descr="preencoded.png"/>
          <p:cNvPicPr>
            <a:picLocks noChangeAspect="1"/>
          </p:cNvPicPr>
          <p:nvPr/>
        </p:nvPicPr>
        <p:blipFill>
          <a:blip r:embed="rId4"/>
          <a:stretch>
            <a:fillRect/>
          </a:stretch>
        </p:blipFill>
        <p:spPr>
          <a:xfrm>
            <a:off x="5326856" y="2424767"/>
            <a:ext cx="306467" cy="383024"/>
          </a:xfrm>
          <a:prstGeom prst="rect">
            <a:avLst/>
          </a:prstGeom>
        </p:spPr>
      </p:pic>
      <p:sp>
        <p:nvSpPr>
          <p:cNvPr id="9" name="Text 5"/>
          <p:cNvSpPr/>
          <p:nvPr/>
        </p:nvSpPr>
        <p:spPr>
          <a:xfrm>
            <a:off x="5968484" y="2357795"/>
            <a:ext cx="3440430" cy="638413"/>
          </a:xfrm>
          <a:prstGeom prst="rect">
            <a:avLst/>
          </a:prstGeom>
          <a:noFill/>
          <a:ln/>
        </p:spPr>
        <p:txBody>
          <a:bodyPr wrap="squar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Technical Recommendations</a:t>
            </a:r>
            <a:endParaRPr lang="en-US" sz="2000" dirty="0"/>
          </a:p>
        </p:txBody>
      </p:sp>
      <p:sp>
        <p:nvSpPr>
          <p:cNvPr id="10" name="Text 6"/>
          <p:cNvSpPr/>
          <p:nvPr/>
        </p:nvSpPr>
        <p:spPr>
          <a:xfrm>
            <a:off x="5968484" y="3134082"/>
            <a:ext cx="3440430" cy="3677841"/>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Implement real-time alerting system for transactions matching high-risk patterns. Deploy a hybrid approach combining unsupervised anomaly detection with supervised classification for optimal results. Establish automated model retraining pipeline to adapt to evolving fraud tactics.</a:t>
            </a:r>
            <a:endParaRPr lang="en-US" sz="1800" dirty="0"/>
          </a:p>
        </p:txBody>
      </p:sp>
      <p:sp>
        <p:nvSpPr>
          <p:cNvPr id="11" name="Shape 7"/>
          <p:cNvSpPr/>
          <p:nvPr/>
        </p:nvSpPr>
        <p:spPr>
          <a:xfrm>
            <a:off x="9638705" y="2357795"/>
            <a:ext cx="517088" cy="517088"/>
          </a:xfrm>
          <a:prstGeom prst="roundRect">
            <a:avLst>
              <a:gd name="adj" fmla="val 66680"/>
            </a:avLst>
          </a:prstGeom>
          <a:solidFill>
            <a:srgbClr val="0A081B"/>
          </a:solidFill>
          <a:ln w="22860">
            <a:solidFill>
              <a:srgbClr val="37A7E7"/>
            </a:solidFill>
            <a:prstDash val="solid"/>
          </a:ln>
        </p:spPr>
        <p:txBody>
          <a:bodyPr/>
          <a:lstStyle/>
          <a:p>
            <a:endParaRPr lang="en-IN"/>
          </a:p>
        </p:txBody>
      </p:sp>
      <p:pic>
        <p:nvPicPr>
          <p:cNvPr id="12" name="Image 2" descr="preencoded.png"/>
          <p:cNvPicPr>
            <a:picLocks noChangeAspect="1"/>
          </p:cNvPicPr>
          <p:nvPr/>
        </p:nvPicPr>
        <p:blipFill>
          <a:blip r:embed="rId5"/>
          <a:stretch>
            <a:fillRect/>
          </a:stretch>
        </p:blipFill>
        <p:spPr>
          <a:xfrm>
            <a:off x="9743956" y="2424767"/>
            <a:ext cx="306467" cy="383024"/>
          </a:xfrm>
          <a:prstGeom prst="rect">
            <a:avLst/>
          </a:prstGeom>
        </p:spPr>
      </p:pic>
      <p:sp>
        <p:nvSpPr>
          <p:cNvPr id="13" name="Text 8"/>
          <p:cNvSpPr/>
          <p:nvPr/>
        </p:nvSpPr>
        <p:spPr>
          <a:xfrm>
            <a:off x="10385584" y="2357795"/>
            <a:ext cx="2815828" cy="319207"/>
          </a:xfrm>
          <a:prstGeom prst="rect">
            <a:avLst/>
          </a:prstGeom>
          <a:noFill/>
          <a:ln/>
        </p:spPr>
        <p:txBody>
          <a:bodyPr wrap="none" lIns="0" tIns="0" rIns="0" bIns="0" rtlCol="0" anchor="t"/>
          <a:lstStyle/>
          <a:p>
            <a:pPr marL="0" indent="0" algn="l">
              <a:lnSpc>
                <a:spcPts val="2500"/>
              </a:lnSpc>
              <a:buNone/>
            </a:pPr>
            <a:r>
              <a:rPr lang="en-US" sz="2000" b="1" dirty="0">
                <a:solidFill>
                  <a:srgbClr val="E0E4E6"/>
                </a:solidFill>
                <a:latin typeface="Spline Sans Bold" pitchFamily="34" charset="0"/>
                <a:ea typeface="Spline Sans Bold" pitchFamily="34" charset="-122"/>
                <a:cs typeface="Spline Sans Bold" pitchFamily="34" charset="-120"/>
              </a:rPr>
              <a:t>Operational Integration</a:t>
            </a:r>
            <a:endParaRPr lang="en-US" sz="2000" dirty="0"/>
          </a:p>
        </p:txBody>
      </p:sp>
      <p:sp>
        <p:nvSpPr>
          <p:cNvPr id="14" name="Text 9"/>
          <p:cNvSpPr/>
          <p:nvPr/>
        </p:nvSpPr>
        <p:spPr>
          <a:xfrm>
            <a:off x="10385584" y="2814876"/>
            <a:ext cx="3440430" cy="3310057"/>
          </a:xfrm>
          <a:prstGeom prst="rect">
            <a:avLst/>
          </a:prstGeom>
          <a:noFill/>
          <a:ln/>
        </p:spPr>
        <p:txBody>
          <a:bodyPr wrap="square" lIns="0" tIns="0" rIns="0" bIns="0" rtlCol="0" anchor="t"/>
          <a:lstStyle/>
          <a:p>
            <a:pPr marL="0" indent="0" algn="l">
              <a:lnSpc>
                <a:spcPts val="2850"/>
              </a:lnSpc>
              <a:buNone/>
            </a:pPr>
            <a:r>
              <a:rPr lang="en-US" sz="1800" dirty="0">
                <a:solidFill>
                  <a:srgbClr val="E0E4E6"/>
                </a:solidFill>
                <a:latin typeface="Barlow" pitchFamily="34" charset="0"/>
                <a:ea typeface="Barlow" pitchFamily="34" charset="-122"/>
                <a:cs typeface="Barlow" pitchFamily="34" charset="-120"/>
              </a:rPr>
              <a:t>Integrate model outputs with existing fraud management systems through API connections. Create customized risk scores based on customer segments and historical patterns. Develop dashboards for fraud analysts to investigate model-flagged transactions efficiently.</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59368" y="518041"/>
            <a:ext cx="5088255" cy="523280"/>
          </a:xfrm>
          <a:prstGeom prst="rect">
            <a:avLst/>
          </a:prstGeom>
          <a:noFill/>
          <a:ln/>
        </p:spPr>
        <p:txBody>
          <a:bodyPr wrap="none" lIns="0" tIns="0" rIns="0" bIns="0" rtlCol="0" anchor="t"/>
          <a:lstStyle/>
          <a:p>
            <a:pPr marL="0" indent="0" algn="l">
              <a:lnSpc>
                <a:spcPts val="4100"/>
              </a:lnSpc>
              <a:buNone/>
            </a:pPr>
            <a:r>
              <a:rPr lang="en-US" sz="3250" b="1" dirty="0">
                <a:solidFill>
                  <a:srgbClr val="F0FCFF"/>
                </a:solidFill>
                <a:latin typeface="Spline Sans Bold" pitchFamily="34" charset="0"/>
                <a:ea typeface="Spline Sans Bold" pitchFamily="34" charset="-122"/>
                <a:cs typeface="Spline Sans Bold" pitchFamily="34" charset="-120"/>
              </a:rPr>
              <a:t>Conclusion &amp; Future Work</a:t>
            </a:r>
            <a:endParaRPr lang="en-US" sz="3250" dirty="0"/>
          </a:p>
        </p:txBody>
      </p:sp>
      <p:sp>
        <p:nvSpPr>
          <p:cNvPr id="3" name="Shape 1"/>
          <p:cNvSpPr/>
          <p:nvPr/>
        </p:nvSpPr>
        <p:spPr>
          <a:xfrm>
            <a:off x="659368" y="3751540"/>
            <a:ext cx="13311664" cy="22860"/>
          </a:xfrm>
          <a:prstGeom prst="roundRect">
            <a:avLst>
              <a:gd name="adj" fmla="val 1236200"/>
            </a:avLst>
          </a:prstGeom>
          <a:solidFill>
            <a:srgbClr val="FFFFFF">
              <a:alpha val="24000"/>
            </a:srgbClr>
          </a:solidFill>
          <a:ln/>
        </p:spPr>
        <p:txBody>
          <a:bodyPr/>
          <a:lstStyle/>
          <a:p>
            <a:endParaRPr lang="en-IN"/>
          </a:p>
        </p:txBody>
      </p:sp>
      <p:sp>
        <p:nvSpPr>
          <p:cNvPr id="4" name="Shape 2"/>
          <p:cNvSpPr/>
          <p:nvPr/>
        </p:nvSpPr>
        <p:spPr>
          <a:xfrm>
            <a:off x="3928705" y="3186351"/>
            <a:ext cx="22860" cy="565190"/>
          </a:xfrm>
          <a:prstGeom prst="roundRect">
            <a:avLst>
              <a:gd name="adj" fmla="val 1236200"/>
            </a:avLst>
          </a:prstGeom>
          <a:solidFill>
            <a:srgbClr val="16FFBB"/>
          </a:solidFill>
          <a:ln/>
        </p:spPr>
        <p:txBody>
          <a:bodyPr/>
          <a:lstStyle/>
          <a:p>
            <a:endParaRPr lang="en-IN"/>
          </a:p>
        </p:txBody>
      </p:sp>
      <p:sp>
        <p:nvSpPr>
          <p:cNvPr id="5" name="Shape 3"/>
          <p:cNvSpPr/>
          <p:nvPr/>
        </p:nvSpPr>
        <p:spPr>
          <a:xfrm>
            <a:off x="3728204" y="3539609"/>
            <a:ext cx="423862" cy="423863"/>
          </a:xfrm>
          <a:prstGeom prst="roundRect">
            <a:avLst>
              <a:gd name="adj" fmla="val 66672"/>
            </a:avLst>
          </a:prstGeom>
          <a:solidFill>
            <a:srgbClr val="0A081B"/>
          </a:solidFill>
          <a:ln w="22860">
            <a:solidFill>
              <a:srgbClr val="16FFBB"/>
            </a:solidFill>
            <a:prstDash val="solid"/>
          </a:ln>
        </p:spPr>
        <p:txBody>
          <a:bodyPr/>
          <a:lstStyle/>
          <a:p>
            <a:endParaRPr lang="en-IN"/>
          </a:p>
        </p:txBody>
      </p:sp>
      <p:pic>
        <p:nvPicPr>
          <p:cNvPr id="6" name="Image 0" descr="preencoded.png"/>
          <p:cNvPicPr>
            <a:picLocks noChangeAspect="1"/>
          </p:cNvPicPr>
          <p:nvPr/>
        </p:nvPicPr>
        <p:blipFill>
          <a:blip r:embed="rId3"/>
          <a:stretch>
            <a:fillRect/>
          </a:stretch>
        </p:blipFill>
        <p:spPr>
          <a:xfrm>
            <a:off x="3814584" y="3594556"/>
            <a:ext cx="251103" cy="313968"/>
          </a:xfrm>
          <a:prstGeom prst="rect">
            <a:avLst/>
          </a:prstGeom>
        </p:spPr>
      </p:pic>
      <p:sp>
        <p:nvSpPr>
          <p:cNvPr id="7" name="Text 4"/>
          <p:cNvSpPr/>
          <p:nvPr/>
        </p:nvSpPr>
        <p:spPr>
          <a:xfrm>
            <a:off x="289357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Achievements</a:t>
            </a:r>
            <a:endParaRPr lang="en-US" sz="1600" dirty="0"/>
          </a:p>
        </p:txBody>
      </p:sp>
      <p:sp>
        <p:nvSpPr>
          <p:cNvPr id="8" name="Text 5"/>
          <p:cNvSpPr/>
          <p:nvPr/>
        </p:nvSpPr>
        <p:spPr>
          <a:xfrm>
            <a:off x="84772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Successfully developed ML framework with 97% accuracy in detecting fraudulent transactions. Combined unsupervised and supervised learning for robust pattern recognition. Identified key fraud indicators for real-time monitoring.</a:t>
            </a:r>
            <a:endParaRPr lang="en-US" sz="1450" dirty="0"/>
          </a:p>
        </p:txBody>
      </p:sp>
      <p:sp>
        <p:nvSpPr>
          <p:cNvPr id="9" name="Shape 6"/>
          <p:cNvSpPr/>
          <p:nvPr/>
        </p:nvSpPr>
        <p:spPr>
          <a:xfrm>
            <a:off x="7303651" y="3751540"/>
            <a:ext cx="22860" cy="565190"/>
          </a:xfrm>
          <a:prstGeom prst="roundRect">
            <a:avLst>
              <a:gd name="adj" fmla="val 1236200"/>
            </a:avLst>
          </a:prstGeom>
          <a:solidFill>
            <a:srgbClr val="29DDDA"/>
          </a:solidFill>
          <a:ln/>
        </p:spPr>
        <p:txBody>
          <a:bodyPr/>
          <a:lstStyle/>
          <a:p>
            <a:endParaRPr lang="en-IN"/>
          </a:p>
        </p:txBody>
      </p:sp>
      <p:sp>
        <p:nvSpPr>
          <p:cNvPr id="10" name="Shape 7"/>
          <p:cNvSpPr/>
          <p:nvPr/>
        </p:nvSpPr>
        <p:spPr>
          <a:xfrm>
            <a:off x="7103150" y="3539609"/>
            <a:ext cx="423862" cy="423863"/>
          </a:xfrm>
          <a:prstGeom prst="roundRect">
            <a:avLst>
              <a:gd name="adj" fmla="val 66672"/>
            </a:avLst>
          </a:prstGeom>
          <a:solidFill>
            <a:srgbClr val="0A081B"/>
          </a:solidFill>
          <a:ln w="22860">
            <a:solidFill>
              <a:srgbClr val="29DDDA"/>
            </a:solidFill>
            <a:prstDash val="solid"/>
          </a:ln>
        </p:spPr>
        <p:txBody>
          <a:bodyPr/>
          <a:lstStyle/>
          <a:p>
            <a:endParaRPr lang="en-IN"/>
          </a:p>
        </p:txBody>
      </p:sp>
      <p:pic>
        <p:nvPicPr>
          <p:cNvPr id="11" name="Image 1" descr="preencoded.png"/>
          <p:cNvPicPr>
            <a:picLocks noChangeAspect="1"/>
          </p:cNvPicPr>
          <p:nvPr/>
        </p:nvPicPr>
        <p:blipFill>
          <a:blip r:embed="rId4"/>
          <a:stretch>
            <a:fillRect/>
          </a:stretch>
        </p:blipFill>
        <p:spPr>
          <a:xfrm>
            <a:off x="7189530" y="3594556"/>
            <a:ext cx="251103" cy="313968"/>
          </a:xfrm>
          <a:prstGeom prst="rect">
            <a:avLst/>
          </a:prstGeom>
        </p:spPr>
      </p:pic>
      <p:sp>
        <p:nvSpPr>
          <p:cNvPr id="12" name="Text 8"/>
          <p:cNvSpPr/>
          <p:nvPr/>
        </p:nvSpPr>
        <p:spPr>
          <a:xfrm>
            <a:off x="6268522" y="4505087"/>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Limitations</a:t>
            </a:r>
            <a:endParaRPr lang="en-US" sz="1600" dirty="0"/>
          </a:p>
        </p:txBody>
      </p:sp>
      <p:sp>
        <p:nvSpPr>
          <p:cNvPr id="13" name="Text 9"/>
          <p:cNvSpPr/>
          <p:nvPr/>
        </p:nvSpPr>
        <p:spPr>
          <a:xfrm>
            <a:off x="4222671" y="4879658"/>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Current model performance limited by class imbalance in training data. Static dataset doesn't capture evolving fraud patterns over time. Recall metrics indicate room for improvement in capturing all fraudulent transactions.</a:t>
            </a:r>
            <a:endParaRPr lang="en-US" sz="1450" dirty="0"/>
          </a:p>
        </p:txBody>
      </p:sp>
      <p:sp>
        <p:nvSpPr>
          <p:cNvPr id="14" name="Shape 10"/>
          <p:cNvSpPr/>
          <p:nvPr/>
        </p:nvSpPr>
        <p:spPr>
          <a:xfrm>
            <a:off x="10678716" y="3186351"/>
            <a:ext cx="22860" cy="565190"/>
          </a:xfrm>
          <a:prstGeom prst="roundRect">
            <a:avLst>
              <a:gd name="adj" fmla="val 1236200"/>
            </a:avLst>
          </a:prstGeom>
          <a:solidFill>
            <a:srgbClr val="37A7E7"/>
          </a:solidFill>
          <a:ln/>
        </p:spPr>
        <p:txBody>
          <a:bodyPr/>
          <a:lstStyle/>
          <a:p>
            <a:endParaRPr lang="en-IN"/>
          </a:p>
        </p:txBody>
      </p:sp>
      <p:sp>
        <p:nvSpPr>
          <p:cNvPr id="15" name="Shape 11"/>
          <p:cNvSpPr/>
          <p:nvPr/>
        </p:nvSpPr>
        <p:spPr>
          <a:xfrm>
            <a:off x="10478214" y="3539609"/>
            <a:ext cx="423862" cy="423863"/>
          </a:xfrm>
          <a:prstGeom prst="roundRect">
            <a:avLst>
              <a:gd name="adj" fmla="val 66672"/>
            </a:avLst>
          </a:prstGeom>
          <a:solidFill>
            <a:srgbClr val="0A081B"/>
          </a:solidFill>
          <a:ln w="22860">
            <a:solidFill>
              <a:srgbClr val="37A7E7"/>
            </a:solidFill>
            <a:prstDash val="solid"/>
          </a:ln>
        </p:spPr>
        <p:txBody>
          <a:bodyPr/>
          <a:lstStyle/>
          <a:p>
            <a:endParaRPr lang="en-IN"/>
          </a:p>
        </p:txBody>
      </p:sp>
      <p:pic>
        <p:nvPicPr>
          <p:cNvPr id="16" name="Image 2" descr="preencoded.png"/>
          <p:cNvPicPr>
            <a:picLocks noChangeAspect="1"/>
          </p:cNvPicPr>
          <p:nvPr/>
        </p:nvPicPr>
        <p:blipFill>
          <a:blip r:embed="rId5"/>
          <a:stretch>
            <a:fillRect/>
          </a:stretch>
        </p:blipFill>
        <p:spPr>
          <a:xfrm>
            <a:off x="10564594" y="3594556"/>
            <a:ext cx="251103" cy="313968"/>
          </a:xfrm>
          <a:prstGeom prst="rect">
            <a:avLst/>
          </a:prstGeom>
        </p:spPr>
      </p:pic>
      <p:sp>
        <p:nvSpPr>
          <p:cNvPr id="17" name="Text 12"/>
          <p:cNvSpPr/>
          <p:nvPr/>
        </p:nvSpPr>
        <p:spPr>
          <a:xfrm>
            <a:off x="9643586" y="1418034"/>
            <a:ext cx="2093238" cy="261580"/>
          </a:xfrm>
          <a:prstGeom prst="rect">
            <a:avLst/>
          </a:prstGeom>
          <a:noFill/>
          <a:ln/>
        </p:spPr>
        <p:txBody>
          <a:bodyPr wrap="none" lIns="0" tIns="0" rIns="0" bIns="0" rtlCol="0" anchor="t"/>
          <a:lstStyle/>
          <a:p>
            <a:pPr marL="0" indent="0" algn="ctr">
              <a:lnSpc>
                <a:spcPts val="2050"/>
              </a:lnSpc>
              <a:buNone/>
            </a:pPr>
            <a:r>
              <a:rPr lang="en-US" sz="1600" b="1" dirty="0">
                <a:solidFill>
                  <a:srgbClr val="E0E4E6"/>
                </a:solidFill>
                <a:latin typeface="Spline Sans Bold" pitchFamily="34" charset="0"/>
                <a:ea typeface="Spline Sans Bold" pitchFamily="34" charset="-122"/>
                <a:cs typeface="Spline Sans Bold" pitchFamily="34" charset="-120"/>
              </a:rPr>
              <a:t>Future Work</a:t>
            </a:r>
            <a:endParaRPr lang="en-US" sz="1600" dirty="0"/>
          </a:p>
        </p:txBody>
      </p:sp>
      <p:sp>
        <p:nvSpPr>
          <p:cNvPr id="18" name="Text 13"/>
          <p:cNvSpPr/>
          <p:nvPr/>
        </p:nvSpPr>
        <p:spPr>
          <a:xfrm>
            <a:off x="7597735" y="1792605"/>
            <a:ext cx="6184940" cy="1205389"/>
          </a:xfrm>
          <a:prstGeom prst="rect">
            <a:avLst/>
          </a:prstGeom>
          <a:noFill/>
          <a:ln/>
        </p:spPr>
        <p:txBody>
          <a:bodyPr wrap="square" lIns="0" tIns="0" rIns="0" bIns="0" rtlCol="0" anchor="t"/>
          <a:lstStyle/>
          <a:p>
            <a:pPr marL="0" indent="0" algn="ctr">
              <a:lnSpc>
                <a:spcPts val="2350"/>
              </a:lnSpc>
              <a:buNone/>
            </a:pPr>
            <a:r>
              <a:rPr lang="en-US" sz="1450" dirty="0">
                <a:solidFill>
                  <a:srgbClr val="E0E4E6"/>
                </a:solidFill>
                <a:latin typeface="Barlow" pitchFamily="34" charset="0"/>
                <a:ea typeface="Barlow" pitchFamily="34" charset="-122"/>
                <a:cs typeface="Barlow" pitchFamily="34" charset="-120"/>
              </a:rPr>
              <a:t>Address class imbalance through advanced sampling techniques. Implement streaming data processing for real-time analysis. Explore deep learning approaches for higher-dimensional pattern recognition. Develop explainable AI components for regulatory compliance.</a:t>
            </a:r>
            <a:endParaRPr lang="en-US" sz="1450" dirty="0"/>
          </a:p>
        </p:txBody>
      </p:sp>
      <p:sp>
        <p:nvSpPr>
          <p:cNvPr id="19" name="Text 14"/>
          <p:cNvSpPr/>
          <p:nvPr/>
        </p:nvSpPr>
        <p:spPr>
          <a:xfrm>
            <a:off x="659368" y="6296978"/>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Machine learning significantly improves fraud detection capabilities compared to traditional rule-based systems. Our combined approach of unsupervised anomaly detection followed by supervised classification provides both flexibility to detect novel patterns and precision in classification decisions.</a:t>
            </a:r>
            <a:endParaRPr lang="en-US" sz="1450" dirty="0"/>
          </a:p>
        </p:txBody>
      </p:sp>
      <p:sp>
        <p:nvSpPr>
          <p:cNvPr id="20" name="Text 15"/>
          <p:cNvSpPr/>
          <p:nvPr/>
        </p:nvSpPr>
        <p:spPr>
          <a:xfrm>
            <a:off x="659368" y="7111603"/>
            <a:ext cx="13311664" cy="602694"/>
          </a:xfrm>
          <a:prstGeom prst="rect">
            <a:avLst/>
          </a:prstGeom>
          <a:noFill/>
          <a:ln/>
        </p:spPr>
        <p:txBody>
          <a:bodyPr wrap="square" lIns="0" tIns="0" rIns="0" bIns="0" rtlCol="0" anchor="t"/>
          <a:lstStyle/>
          <a:p>
            <a:pPr marL="0" indent="0" algn="l">
              <a:lnSpc>
                <a:spcPts val="2350"/>
              </a:lnSpc>
              <a:buNone/>
            </a:pPr>
            <a:r>
              <a:rPr lang="en-US" sz="1450" dirty="0">
                <a:solidFill>
                  <a:srgbClr val="E0E4E6"/>
                </a:solidFill>
                <a:latin typeface="Barlow" pitchFamily="34" charset="0"/>
                <a:ea typeface="Barlow" pitchFamily="34" charset="-122"/>
                <a:cs typeface="Barlow" pitchFamily="34" charset="-120"/>
              </a:rPr>
              <a:t>The developed framework shows high potential for integration into real-world banking systems, where it could significantly reduce fraud losses while minimizing false positive alerts that create customer friction.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1397</Words>
  <Application>Microsoft Office PowerPoint</Application>
  <PresentationFormat>Custom</PresentationFormat>
  <Paragraphs>118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Spline Sans Bold</vt:lpstr>
      <vt:lpstr>Barlow</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Muduthanapelli Sai rohith</cp:lastModifiedBy>
  <cp:revision>2</cp:revision>
  <dcterms:created xsi:type="dcterms:W3CDTF">2025-03-27T20:55:10Z</dcterms:created>
  <dcterms:modified xsi:type="dcterms:W3CDTF">2026-07-09T00:53:34Z</dcterms:modified>
</cp:coreProperties>
</file>